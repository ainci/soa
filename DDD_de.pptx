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1816" r:id="rId2"/>
    <p:sldId id="1826" r:id="rId3"/>
    <p:sldId id="1828" r:id="rId4"/>
    <p:sldId id="1829" r:id="rId5"/>
    <p:sldId id="1817" r:id="rId6"/>
    <p:sldId id="1830" r:id="rId7"/>
    <p:sldId id="1839" r:id="rId8"/>
    <p:sldId id="1831" r:id="rId9"/>
    <p:sldId id="1838" r:id="rId10"/>
    <p:sldId id="1832" r:id="rId11"/>
    <p:sldId id="1833" r:id="rId12"/>
    <p:sldId id="1834" r:id="rId13"/>
    <p:sldId id="1835" r:id="rId14"/>
    <p:sldId id="1836" r:id="rId15"/>
    <p:sldId id="1837" r:id="rId16"/>
  </p:sldIdLst>
  <p:sldSz cx="9144000" cy="6858000" type="screen4x3"/>
  <p:notesSz cx="7099300" cy="102346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FF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84" autoAdjust="0"/>
    <p:restoredTop sz="94978" autoAdjust="0"/>
  </p:normalViewPr>
  <p:slideViewPr>
    <p:cSldViewPr>
      <p:cViewPr>
        <p:scale>
          <a:sx n="125" d="100"/>
          <a:sy n="125" d="100"/>
        </p:scale>
        <p:origin x="-9" y="-9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8" d="100"/>
          <a:sy n="58" d="100"/>
        </p:scale>
        <p:origin x="3274" y="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2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0" tIns="45709" rIns="91420" bIns="45709" numCol="1" anchor="t" anchorCtr="0" compatLnSpc="1">
            <a:prstTxWarp prst="textNoShape">
              <a:avLst/>
            </a:prstTxWarp>
          </a:bodyPr>
          <a:lstStyle>
            <a:lvl1pPr>
              <a:defRPr sz="11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1182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0" tIns="45709" rIns="91420" bIns="45709" numCol="1" anchor="t" anchorCtr="0" compatLnSpc="1">
            <a:prstTxWarp prst="textNoShape">
              <a:avLst/>
            </a:prstTxWarp>
          </a:bodyPr>
          <a:lstStyle>
            <a:lvl1pPr algn="r">
              <a:defRPr sz="11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1182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0" tIns="45709" rIns="91420" bIns="45709" numCol="1" anchor="b" anchorCtr="0" compatLnSpc="1">
            <a:prstTxWarp prst="textNoShape">
              <a:avLst/>
            </a:prstTxWarp>
          </a:bodyPr>
          <a:lstStyle>
            <a:lvl1pPr>
              <a:defRPr sz="11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1182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0" tIns="45709" rIns="91420" bIns="45709" numCol="1" anchor="b" anchorCtr="0" compatLnSpc="1">
            <a:prstTxWarp prst="textNoShape">
              <a:avLst/>
            </a:prstTxWarp>
          </a:bodyPr>
          <a:lstStyle>
            <a:lvl1pPr algn="r">
              <a:defRPr sz="1100"/>
            </a:lvl1pPr>
          </a:lstStyle>
          <a:p>
            <a:pPr>
              <a:defRPr/>
            </a:pPr>
            <a:fld id="{87006E12-A45D-4D6B-9DD7-136B45AB24AB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05357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7283" tIns="48641" rIns="97283" bIns="48641" numCol="1" anchor="t" anchorCtr="0" compatLnSpc="1">
            <a:prstTxWarp prst="textNoShape">
              <a:avLst/>
            </a:prstTxWarp>
          </a:bodyPr>
          <a:lstStyle>
            <a:lvl1pPr defTabSz="973138">
              <a:defRPr sz="11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7283" tIns="48641" rIns="97283" bIns="48641" numCol="1" anchor="t" anchorCtr="0" compatLnSpc="1">
            <a:prstTxWarp prst="textNoShape">
              <a:avLst/>
            </a:prstTxWarp>
          </a:bodyPr>
          <a:lstStyle>
            <a:lvl1pPr algn="r" defTabSz="973138">
              <a:defRPr sz="11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775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8350"/>
            <a:ext cx="5116512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59338"/>
            <a:ext cx="5680075" cy="4606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7283" tIns="48641" rIns="97283" bIns="4864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7283" tIns="48641" rIns="97283" bIns="48641" numCol="1" anchor="b" anchorCtr="0" compatLnSpc="1">
            <a:prstTxWarp prst="textNoShape">
              <a:avLst/>
            </a:prstTxWarp>
          </a:bodyPr>
          <a:lstStyle>
            <a:lvl1pPr defTabSz="973138">
              <a:defRPr sz="11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7283" tIns="48641" rIns="97283" bIns="48641" numCol="1" anchor="b" anchorCtr="0" compatLnSpc="1">
            <a:prstTxWarp prst="textNoShape">
              <a:avLst/>
            </a:prstTxWarp>
          </a:bodyPr>
          <a:lstStyle>
            <a:lvl1pPr algn="r" defTabSz="973138">
              <a:defRPr sz="1100"/>
            </a:lvl1pPr>
          </a:lstStyle>
          <a:p>
            <a:pPr>
              <a:defRPr/>
            </a:pPr>
            <a:fld id="{8F2A6DE9-2C2A-47E2-A7F9-AD00AAF2042F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474789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1011594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2428629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9BB0525-20E0-A8F9-4D5A-5A97359A8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01863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2562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2562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22655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1359318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1675167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79055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2756572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DE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1153151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4214161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60350"/>
            <a:ext cx="2057400" cy="6121400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60350"/>
            <a:ext cx="6019800" cy="6121400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2211790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el, Text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260350"/>
            <a:ext cx="8135937" cy="77787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half" idx="1"/>
          </p:nvPr>
        </p:nvSpPr>
        <p:spPr>
          <a:xfrm>
            <a:off x="457200" y="1125538"/>
            <a:ext cx="4038600" cy="5256212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256212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3576245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260350"/>
            <a:ext cx="8135937" cy="77787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457200" y="1125538"/>
            <a:ext cx="8229600" cy="5256212"/>
          </a:xfrm>
        </p:spPr>
        <p:txBody>
          <a:bodyPr/>
          <a:lstStyle/>
          <a:p>
            <a:pPr lvl="0"/>
            <a:endParaRPr lang="de-DE" noProof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10783851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el, Text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260350"/>
            <a:ext cx="8135937" cy="77787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half" idx="1"/>
          </p:nvPr>
        </p:nvSpPr>
        <p:spPr>
          <a:xfrm>
            <a:off x="457200" y="1125538"/>
            <a:ext cx="4038600" cy="5256212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2"/>
          </p:nvPr>
        </p:nvSpPr>
        <p:spPr>
          <a:xfrm>
            <a:off x="4648200" y="1125538"/>
            <a:ext cx="4038600" cy="2551112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3"/>
          </p:nvPr>
        </p:nvSpPr>
        <p:spPr>
          <a:xfrm>
            <a:off x="4648200" y="3829050"/>
            <a:ext cx="4038600" cy="25527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4082272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el und Text über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260350"/>
            <a:ext cx="8135937" cy="77787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half" idx="1"/>
          </p:nvPr>
        </p:nvSpPr>
        <p:spPr>
          <a:xfrm>
            <a:off x="457200" y="1125538"/>
            <a:ext cx="8229600" cy="2551112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3829050"/>
            <a:ext cx="8229600" cy="25527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</p:spTree>
    <p:extLst>
      <p:ext uri="{BB962C8B-B14F-4D97-AF65-F5344CB8AC3E}">
        <p14:creationId xmlns:p14="http://schemas.microsoft.com/office/powerpoint/2010/main" val="2738540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260350"/>
            <a:ext cx="8135937" cy="7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Titelmasterformat durch Klicken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256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32363" y="6453188"/>
            <a:ext cx="1800225" cy="268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/>
            </a:lvl1pPr>
          </a:lstStyle>
          <a:p>
            <a:pPr>
              <a:defRPr/>
            </a:pPr>
            <a:r>
              <a:rPr lang="de-DE" dirty="0"/>
              <a:t>Ahmet Inci</a:t>
            </a:r>
          </a:p>
        </p:txBody>
      </p:sp>
      <p:sp>
        <p:nvSpPr>
          <p:cNvPr id="2" name="Line 8"/>
          <p:cNvSpPr>
            <a:spLocks noChangeShapeType="1"/>
          </p:cNvSpPr>
          <p:nvPr/>
        </p:nvSpPr>
        <p:spPr bwMode="auto">
          <a:xfrm>
            <a:off x="460375" y="990600"/>
            <a:ext cx="8150225" cy="0"/>
          </a:xfrm>
          <a:prstGeom prst="line">
            <a:avLst/>
          </a:prstGeom>
          <a:noFill/>
          <a:ln w="25400">
            <a:solidFill>
              <a:srgbClr val="042EAE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1030" name="Rectangle 10"/>
          <p:cNvSpPr>
            <a:spLocks noChangeArrowheads="1"/>
          </p:cNvSpPr>
          <p:nvPr/>
        </p:nvSpPr>
        <p:spPr bwMode="auto">
          <a:xfrm>
            <a:off x="468313" y="6453188"/>
            <a:ext cx="3167062" cy="268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de-DE" altLang="de-DE" sz="1200" dirty="0"/>
              <a:t>Domain Driven Design</a:t>
            </a:r>
          </a:p>
        </p:txBody>
      </p:sp>
      <p:sp>
        <p:nvSpPr>
          <p:cNvPr id="1031" name="Line 11"/>
          <p:cNvSpPr>
            <a:spLocks noChangeShapeType="1"/>
          </p:cNvSpPr>
          <p:nvPr/>
        </p:nvSpPr>
        <p:spPr bwMode="auto">
          <a:xfrm>
            <a:off x="468313" y="6381750"/>
            <a:ext cx="8150225" cy="0"/>
          </a:xfrm>
          <a:prstGeom prst="line">
            <a:avLst/>
          </a:prstGeom>
          <a:noFill/>
          <a:ln w="25400">
            <a:solidFill>
              <a:srgbClr val="042EAE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1032" name="Rectangle 12"/>
          <p:cNvSpPr>
            <a:spLocks noChangeArrowheads="1"/>
          </p:cNvSpPr>
          <p:nvPr/>
        </p:nvSpPr>
        <p:spPr bwMode="auto">
          <a:xfrm>
            <a:off x="6516688" y="6453188"/>
            <a:ext cx="2159000" cy="268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/>
            <a:fld id="{C735F766-00C7-4EB1-BD21-B0B9E251CF11}" type="slidenum">
              <a:rPr lang="de-DE" altLang="de-DE" sz="1200"/>
              <a:pPr algn="r" eaLnBrk="1" hangingPunct="1"/>
              <a:t>‹Nr.›</a:t>
            </a:fld>
            <a:endParaRPr lang="de-DE" altLang="de-DE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 b="1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b="1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Domain Driven Design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13916D-7B78-4C90-807F-E2A01999E51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68313" y="1268761"/>
            <a:ext cx="4679751" cy="241789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9136E94-3E5D-462A-8A5A-43244CEF0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709" y="3789040"/>
            <a:ext cx="4752541" cy="256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756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Warum DDD?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3A66060-7F27-403D-B23B-99D0F0044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421" y="1739541"/>
            <a:ext cx="4607158" cy="3378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804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0A14-A313-42F0-A937-783611723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Subdomänen = Was die Organisation fachlich tut</a:t>
            </a:r>
            <a:br>
              <a:rPr lang="de-DE" b="1" dirty="0"/>
            </a:br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CCC431-7428-45AB-96D5-355C049973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4E57EC9-2289-4AE6-B93E-45B075AE2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59" y="1589180"/>
            <a:ext cx="7556843" cy="371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5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5CEC61-F196-4A1F-9600-B422B9EE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Bounded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= Das Modell, die Sprache und die Regeln einer Subdomäne</a:t>
            </a:r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43D3D7-1DF2-4B6B-8D34-0AA7280174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DD1D841-FD2F-4D6A-A659-356029385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373576"/>
            <a:ext cx="6005849" cy="411084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EB3CA39-D06D-47BA-942D-92AFF5AE5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2" y="2564904"/>
            <a:ext cx="3980504" cy="11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247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Aggregat / Entität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B66EF9-7670-47AA-AC2F-D6D5118A9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484784"/>
            <a:ext cx="5940677" cy="177969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79B330A-8481-4D9D-905F-E582A64C8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25" y="3711039"/>
            <a:ext cx="5654923" cy="131346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DF1F8B2-2368-4292-A055-D26BB7A53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5589240"/>
            <a:ext cx="5073388" cy="55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61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Dinner-Events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1C44BB2-DEB4-4209-A754-B1B1E854A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57" y="2276872"/>
            <a:ext cx="5024430" cy="194421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1E836EE-4B38-4991-820C-4BED958DB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2080" y="1696180"/>
            <a:ext cx="3361763" cy="329572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E38AD75-4374-408C-B5ED-D4D7147A3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36" y="5021609"/>
            <a:ext cx="5472608" cy="125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117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Vorgehen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6B636D5-C247-4D80-BB15-E71CFCDC5AF6}"/>
              </a:ext>
            </a:extLst>
          </p:cNvPr>
          <p:cNvSpPr txBox="1"/>
          <p:nvPr/>
        </p:nvSpPr>
        <p:spPr>
          <a:xfrm>
            <a:off x="683568" y="1700808"/>
            <a:ext cx="71160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Die Domäne mit Subdomänen strukturieren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Bounded</a:t>
            </a:r>
            <a:r>
              <a:rPr lang="de-CH" dirty="0"/>
              <a:t> </a:t>
            </a:r>
            <a:r>
              <a:rPr lang="de-CH" dirty="0" err="1"/>
              <a:t>Contexts</a:t>
            </a:r>
            <a:r>
              <a:rPr lang="de-CH" dirty="0"/>
              <a:t> definieren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Aggregate(Roots), Entitäten erkennen und definieren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Geschäftsregeln explizit machen (Aggregate &amp; Domain Services)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Use Cases fachlich modellieren</a:t>
            </a:r>
          </a:p>
        </p:txBody>
      </p:sp>
    </p:spTree>
    <p:extLst>
      <p:ext uri="{BB962C8B-B14F-4D97-AF65-F5344CB8AC3E}">
        <p14:creationId xmlns:p14="http://schemas.microsoft.com/office/powerpoint/2010/main" val="91539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Subdomänen finden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C544C2F-76B9-4456-ADAE-EC1F6D7E9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706" y="1967643"/>
            <a:ext cx="5148587" cy="2922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41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Bounded</a:t>
            </a:r>
            <a:r>
              <a:rPr lang="de-CH" dirty="0"/>
              <a:t> </a:t>
            </a:r>
            <a:r>
              <a:rPr lang="de-CH" dirty="0" err="1"/>
              <a:t>Contexts</a:t>
            </a:r>
            <a:r>
              <a:rPr lang="de-CH" dirty="0"/>
              <a:t> definieren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1930844-D96F-4281-A578-FCF8ED0A6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13" y="1196752"/>
            <a:ext cx="5705055" cy="311321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CD726D8-875F-4D28-961A-1CD4F3790E2B}"/>
              </a:ext>
            </a:extLst>
          </p:cNvPr>
          <p:cNvSpPr txBox="1"/>
          <p:nvPr/>
        </p:nvSpPr>
        <p:spPr>
          <a:xfrm>
            <a:off x="7098055" y="1117179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Lösung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7C95E1C-540D-478D-990E-A24520397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086" y="1514139"/>
            <a:ext cx="1151220" cy="213354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95439ED-2DBA-45BF-916D-83B710EC7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28" y="4797153"/>
            <a:ext cx="3888432" cy="131125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3680F507-BEE3-4B46-A8EF-E8BFD2B86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1960" y="4817417"/>
            <a:ext cx="4393181" cy="127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073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Aggregate identifizieren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432042-731B-4B6B-AC30-009E6C1BC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44" y="1295871"/>
            <a:ext cx="6181312" cy="426625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787E169-C072-4170-8075-8FF491944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3573016"/>
            <a:ext cx="3484876" cy="1475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98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Geschäftsregeln identifizieren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0F529F-44A6-4399-8934-905EF980F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158" y="1556793"/>
            <a:ext cx="5574787" cy="3546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320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ist eine </a:t>
            </a:r>
            <a:r>
              <a:rPr lang="de-CH" i="1" dirty="0" err="1"/>
              <a:t>ReservationPolicy</a:t>
            </a:r>
            <a:r>
              <a:rPr lang="de-CH" dirty="0"/>
              <a:t>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7C85361-1A04-4359-97D3-1F4A644EE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340768"/>
            <a:ext cx="3579446" cy="143378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A31CEDF2-6568-4C2A-A028-E805F669E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1196752"/>
            <a:ext cx="4572065" cy="380002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4D84836-B8D4-45C2-A3F5-BF2788474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20" y="3297298"/>
            <a:ext cx="3198440" cy="1148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969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Warum gehört </a:t>
            </a:r>
            <a:r>
              <a:rPr lang="de-DE" dirty="0" err="1"/>
              <a:t>ReservationPolicy</a:t>
            </a:r>
            <a:r>
              <a:rPr lang="de-DE" dirty="0"/>
              <a:t> NICHT ins Aggregat?</a:t>
            </a:r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AAF98D-9A51-4B29-995E-A1AD0B756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268760"/>
            <a:ext cx="4657290" cy="201531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66DB13D-2C31-4DD5-A252-A4A71F3E1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4" y="1268760"/>
            <a:ext cx="4246205" cy="111293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770FE705-E715-47B7-A0F5-7F24221CD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190" y="2996952"/>
            <a:ext cx="5508104" cy="3313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37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Warum ist </a:t>
            </a:r>
            <a:r>
              <a:rPr lang="de-DE" dirty="0" err="1"/>
              <a:t>ReservationPolicy</a:t>
            </a:r>
            <a:r>
              <a:rPr lang="de-DE" dirty="0"/>
              <a:t> ein Domain Service?</a:t>
            </a:r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A6C2D0C-DD0F-4DA2-AB52-893CB4803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196752"/>
            <a:ext cx="6732767" cy="238128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B5C306F-D11D-4E5F-AAE2-AAFBFA24E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9" y="3645025"/>
            <a:ext cx="4248471" cy="172286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4AD68C3-0BF9-4ED1-9C73-F4748BCD9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042" y="4365104"/>
            <a:ext cx="4008530" cy="104817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F639EACA-8479-43E2-97D9-F547E6968C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1059" y="3621397"/>
            <a:ext cx="3916496" cy="45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77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06547-C76D-8426-7F5E-A45ADD648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Use Cases formulieren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CB348F-0928-F43B-0737-600B1FE865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Ahmet Inci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F6394D4-A4B5-4A24-9084-C67C6A3D0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13" y="1412776"/>
            <a:ext cx="3759922" cy="368472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36F6EA-52B1-4604-9065-CEEE37859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04" y="1407207"/>
            <a:ext cx="2942766" cy="1634313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51BA4B4-0742-4081-BB88-57ABF3601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5239" y="3501008"/>
            <a:ext cx="4110848" cy="265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27072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123</Words>
  <Application>Microsoft Office PowerPoint</Application>
  <PresentationFormat>Bildschirmpräsentation (4:3)</PresentationFormat>
  <Paragraphs>36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7" baseType="lpstr">
      <vt:lpstr>Arial</vt:lpstr>
      <vt:lpstr>Standarddesign</vt:lpstr>
      <vt:lpstr>Domain Driven Design</vt:lpstr>
      <vt:lpstr>Warum DDD?</vt:lpstr>
      <vt:lpstr>Subdomänen = Was die Organisation fachlich tut </vt:lpstr>
      <vt:lpstr>Bounded Context = Das Modell, die Sprache und die Regeln einer Subdomäne</vt:lpstr>
      <vt:lpstr>Aggregat / Entität</vt:lpstr>
      <vt:lpstr>Dinner-Events</vt:lpstr>
      <vt:lpstr>Vorgehen</vt:lpstr>
      <vt:lpstr>Subdomänen finden</vt:lpstr>
      <vt:lpstr>Bounded Contexts definieren</vt:lpstr>
      <vt:lpstr>Aggregate identifizieren</vt:lpstr>
      <vt:lpstr>Geschäftsregeln identifizieren</vt:lpstr>
      <vt:lpstr>Was ist eine ReservationPolicy?</vt:lpstr>
      <vt:lpstr>Warum gehört ReservationPolicy NICHT ins Aggregat?</vt:lpstr>
      <vt:lpstr>Warum ist ReservationPolicy ein Domain Service?</vt:lpstr>
      <vt:lpstr>Use Cases formulieren</vt:lpstr>
    </vt:vector>
  </TitlesOfParts>
  <Company>Hochschule Osnabrück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Prof. Dr. Stephan Kleuker</dc:creator>
  <cp:lastModifiedBy>Ahmet Inci</cp:lastModifiedBy>
  <cp:revision>828</cp:revision>
  <dcterms:created xsi:type="dcterms:W3CDTF">2002-10-02T13:01:35Z</dcterms:created>
  <dcterms:modified xsi:type="dcterms:W3CDTF">2025-11-20T17:12:54Z</dcterms:modified>
</cp:coreProperties>
</file>