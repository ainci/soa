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1816" r:id="rId2"/>
    <p:sldId id="1817" r:id="rId3"/>
    <p:sldId id="1830" r:id="rId4"/>
    <p:sldId id="1829" r:id="rId5"/>
    <p:sldId id="1832" r:id="rId6"/>
    <p:sldId id="1823" r:id="rId7"/>
    <p:sldId id="1833" r:id="rId8"/>
    <p:sldId id="1824" r:id="rId9"/>
    <p:sldId id="1825" r:id="rId10"/>
    <p:sldId id="1826" r:id="rId11"/>
    <p:sldId id="1827" r:id="rId12"/>
    <p:sldId id="1831" r:id="rId13"/>
    <p:sldId id="1821" r:id="rId14"/>
    <p:sldId id="1828" r:id="rId15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1995" autoAdjust="0"/>
  </p:normalViewPr>
  <p:slideViewPr>
    <p:cSldViewPr>
      <p:cViewPr>
        <p:scale>
          <a:sx n="99" d="100"/>
          <a:sy n="99" d="100"/>
        </p:scale>
        <p:origin x="513" y="-6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sz="1200" dirty="0"/>
              <a:t>System, UML</a:t>
            </a:r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D8A1DD5-C8B8-4239-A659-9C0DAA4578D5}"/>
              </a:ext>
            </a:extLst>
          </p:cNvPr>
          <p:cNvSpPr/>
          <p:nvPr/>
        </p:nvSpPr>
        <p:spPr>
          <a:xfrm>
            <a:off x="539551" y="1482637"/>
            <a:ext cx="7992888" cy="44644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System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9064E0C-7635-427C-211E-0BEF28919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1959" y="2321384"/>
            <a:ext cx="5450322" cy="290755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55056E6-408D-4BB2-88E2-42C1F895E40F}"/>
              </a:ext>
            </a:extLst>
          </p:cNvPr>
          <p:cNvSpPr txBox="1"/>
          <p:nvPr/>
        </p:nvSpPr>
        <p:spPr>
          <a:xfrm>
            <a:off x="683568" y="150763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Kontext/Umgebung</a:t>
            </a:r>
          </a:p>
        </p:txBody>
      </p:sp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System </a:t>
            </a:r>
            <a:r>
              <a:rPr lang="de-CH" dirty="0" err="1"/>
              <a:t>context</a:t>
            </a:r>
            <a:r>
              <a:rPr lang="de-CH" dirty="0"/>
              <a:t> </a:t>
            </a:r>
            <a:r>
              <a:rPr lang="de-CH" dirty="0" err="1"/>
              <a:t>diagram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E05619-A867-DA5A-8094-74BEE6242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3682752" cy="5256212"/>
          </a:xfrm>
        </p:spPr>
        <p:txBody>
          <a:bodyPr/>
          <a:lstStyle/>
          <a:p>
            <a:endParaRPr lang="de-DE" sz="1400" b="1" dirty="0"/>
          </a:p>
          <a:p>
            <a:endParaRPr lang="de-DE" sz="1400" dirty="0"/>
          </a:p>
          <a:p>
            <a:endParaRPr lang="de-DE" sz="1400" b="1" dirty="0"/>
          </a:p>
          <a:p>
            <a:r>
              <a:rPr lang="de-DE" sz="1100" b="1" dirty="0"/>
              <a:t>Akteure</a:t>
            </a:r>
            <a:r>
              <a:rPr lang="de-DE" sz="1100" dirty="0"/>
              <a:t> (Patient, Arzt, Mitarbeiter) interagieren über definierte Kanäle</a:t>
            </a:r>
            <a:endParaRPr lang="de-DE" sz="1400" dirty="0"/>
          </a:p>
          <a:p>
            <a:endParaRPr lang="de-DE" sz="1400" dirty="0"/>
          </a:p>
          <a:p>
            <a:r>
              <a:rPr lang="de-DE" sz="1100" dirty="0"/>
              <a:t>Nur </a:t>
            </a:r>
            <a:r>
              <a:rPr lang="de-DE" sz="1100" b="1" dirty="0"/>
              <a:t>Eingänge und Ausgänge</a:t>
            </a:r>
            <a:r>
              <a:rPr lang="de-DE" sz="1100" dirty="0"/>
              <a:t>, keine internen Details</a:t>
            </a:r>
            <a:endParaRPr lang="de-DE" sz="1400" dirty="0"/>
          </a:p>
          <a:p>
            <a:endParaRPr lang="de-DE" sz="1400" b="1" dirty="0"/>
          </a:p>
          <a:p>
            <a:endParaRPr lang="de-DE" sz="1400" dirty="0"/>
          </a:p>
          <a:p>
            <a:endParaRPr lang="de-DE" sz="1400" dirty="0"/>
          </a:p>
          <a:p>
            <a:r>
              <a:rPr lang="de-DE" sz="1100" dirty="0"/>
              <a:t>Ein Diagramm, das System als Box in der Mitte zeigt, umgeben von seinen Benutzern und den anderen Systemen, mit denen es interagiert.</a:t>
            </a:r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r>
              <a:rPr lang="de-DE" sz="1100" dirty="0"/>
              <a:t>Typischerweise liegen diese anderen Softwaresysteme </a:t>
            </a:r>
            <a:r>
              <a:rPr lang="de-DE" sz="1100" dirty="0" err="1"/>
              <a:t>ausserhalb</a:t>
            </a:r>
            <a:r>
              <a:rPr lang="de-DE" sz="1100" dirty="0"/>
              <a:t> des Umfangs oder der Grenze des Softwaresystems</a:t>
            </a:r>
            <a:endParaRPr lang="en-US" sz="1400" b="1" dirty="0"/>
          </a:p>
          <a:p>
            <a:endParaRPr lang="de-CH" sz="14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D3DC31-C95B-40F4-B52A-E4877029B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005" y="1772816"/>
            <a:ext cx="4357984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System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562AA42-B6D9-4EF3-95BA-28032F8C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4744"/>
            <a:ext cx="7161507" cy="208823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2C6A5DE-B90B-49B9-972B-1728B834E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3" y="3501008"/>
            <a:ext cx="8243389" cy="266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9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UML </a:t>
            </a:r>
            <a:r>
              <a:rPr lang="de-DE" dirty="0" err="1"/>
              <a:t>Diagram</a:t>
            </a:r>
            <a:r>
              <a:rPr lang="de-DE" dirty="0"/>
              <a:t> </a:t>
            </a:r>
            <a:r>
              <a:rPr lang="de-DE" dirty="0" err="1"/>
              <a:t>types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6859D88-8CB3-4383-9030-1617FE0F9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772816"/>
            <a:ext cx="8600210" cy="36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5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UML Beziehungen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D81523-BF2E-4CEC-991A-A69EAA188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50" y="1889391"/>
            <a:ext cx="2025345" cy="220582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DBC2770-A411-4229-88F6-3A154723D76C}"/>
              </a:ext>
            </a:extLst>
          </p:cNvPr>
          <p:cNvSpPr txBox="1"/>
          <p:nvPr/>
        </p:nvSpPr>
        <p:spPr>
          <a:xfrm>
            <a:off x="373350" y="148491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Abhängigkeit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4B9629C-3935-4126-8281-1530C974A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119" y="1914457"/>
            <a:ext cx="1198162" cy="218075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93E8EEE6-B813-4289-AC5A-E7A75AF62FE9}"/>
              </a:ext>
            </a:extLst>
          </p:cNvPr>
          <p:cNvSpPr txBox="1"/>
          <p:nvPr/>
        </p:nvSpPr>
        <p:spPr>
          <a:xfrm>
            <a:off x="2483768" y="1472864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dauerhafte Referenz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D906BDD-FF4B-4DF9-8264-D7DE6D8F9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4653136"/>
            <a:ext cx="1303440" cy="1654366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A080F2FC-3C6C-4181-BABB-D0FAC0E68CAF}"/>
              </a:ext>
            </a:extLst>
          </p:cNvPr>
          <p:cNvSpPr txBox="1"/>
          <p:nvPr/>
        </p:nvSpPr>
        <p:spPr>
          <a:xfrm>
            <a:off x="612640" y="4160410"/>
            <a:ext cx="295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implementiert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B970FF34-EC48-48C1-804C-90D3FB96E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828" y="4577938"/>
            <a:ext cx="1418744" cy="1729564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1ECB9D75-B5E5-4425-B1EE-30D4B835E68A}"/>
              </a:ext>
            </a:extLst>
          </p:cNvPr>
          <p:cNvSpPr txBox="1"/>
          <p:nvPr/>
        </p:nvSpPr>
        <p:spPr>
          <a:xfrm>
            <a:off x="3419872" y="4143408"/>
            <a:ext cx="295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erweitert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CC1C3841-6DE2-4856-9179-40C2D42C5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205" y="2237041"/>
            <a:ext cx="4132795" cy="3096344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0D60CDD9-8509-4E79-9F09-FA74469AA10C}"/>
              </a:ext>
            </a:extLst>
          </p:cNvPr>
          <p:cNvSpPr txBox="1"/>
          <p:nvPr/>
        </p:nvSpPr>
        <p:spPr>
          <a:xfrm>
            <a:off x="5652120" y="149341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Liskov</a:t>
            </a:r>
            <a:r>
              <a:rPr lang="de-CH" dirty="0"/>
              <a:t> Prinzip</a:t>
            </a:r>
          </a:p>
        </p:txBody>
      </p:sp>
    </p:spTree>
    <p:extLst>
      <p:ext uri="{BB962C8B-B14F-4D97-AF65-F5344CB8AC3E}">
        <p14:creationId xmlns:p14="http://schemas.microsoft.com/office/powerpoint/2010/main" val="2680758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Class </a:t>
            </a:r>
            <a:r>
              <a:rPr lang="de-CH" dirty="0" err="1"/>
              <a:t>Diagram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2C69A12-C0FE-4EAE-A556-AAF0C3AA9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3068960"/>
            <a:ext cx="5118348" cy="314351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BF8D58E-4B1D-438F-90B0-5AF7D3836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66" y="1124744"/>
            <a:ext cx="4003647" cy="26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4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Interface als Rolle und Vertrag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E166D26-994A-4574-952F-C8A94B3B6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3367"/>
            <a:ext cx="4716016" cy="169751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1967158-1792-4062-987C-DB2434AF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124744"/>
            <a:ext cx="6742793" cy="269210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92822B1-1000-4AB9-903C-7FFF8FB7D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798" y="3790566"/>
            <a:ext cx="4099223" cy="241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12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Use Case </a:t>
            </a:r>
            <a:r>
              <a:rPr lang="de-CH" dirty="0" err="1"/>
              <a:t>Diagrams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44CE544-6098-4E3B-980A-C4993564C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5" y="1268760"/>
            <a:ext cx="4464496" cy="138844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8015F25-C7E2-4292-87EB-0C4D7600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952612"/>
            <a:ext cx="3811127" cy="249635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E618C72-BB77-45AB-94E9-6979FD10A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242" y="1832828"/>
            <a:ext cx="4364836" cy="276228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E6B7AD0-3B30-4067-96B7-A45252E3E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9242" y="1226514"/>
            <a:ext cx="4076362" cy="49104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62126F0-B38C-4FCB-9C9D-C08CCF391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40" y="5650031"/>
            <a:ext cx="4846714" cy="71347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42EC0C0-9FBC-47B7-91B0-D84205FFE8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025" y="4640509"/>
            <a:ext cx="2728564" cy="100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52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Sequence</a:t>
            </a:r>
            <a:r>
              <a:rPr lang="de-CH" dirty="0"/>
              <a:t> </a:t>
            </a:r>
            <a:r>
              <a:rPr lang="de-CH" dirty="0" err="1"/>
              <a:t>Diagrams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45FED13-4958-4DF4-BBA9-58E8B7FA5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344816" cy="501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5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Schach-Engine als System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90BDFBA-BFEA-4D55-B474-2135BECED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316" y="1884457"/>
            <a:ext cx="3485213" cy="20486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9C89573-618E-4778-A328-DAFCA203F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8" y="1438442"/>
            <a:ext cx="5564451" cy="195926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ABD2668-5157-4986-AC26-BF7928452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56" y="4008541"/>
            <a:ext cx="6217946" cy="154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61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System </a:t>
            </a:r>
            <a:r>
              <a:rPr lang="de-CH" dirty="0" err="1"/>
              <a:t>Context</a:t>
            </a:r>
            <a:r>
              <a:rPr lang="de-CH" dirty="0"/>
              <a:t> </a:t>
            </a:r>
            <a:r>
              <a:rPr lang="de-CH" dirty="0" err="1"/>
              <a:t>ChessProg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0EE67A-88B1-470E-A082-6F6ED682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340768"/>
            <a:ext cx="6486572" cy="35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40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95A7E2E-589F-4464-84BD-B7FF8E31E7A1}"/>
              </a:ext>
            </a:extLst>
          </p:cNvPr>
          <p:cNvSpPr txBox="1"/>
          <p:nvPr/>
        </p:nvSpPr>
        <p:spPr>
          <a:xfrm>
            <a:off x="2843808" y="2996952"/>
            <a:ext cx="389722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ANHANG</a:t>
            </a:r>
            <a:endParaRPr lang="de-CH" sz="6600" b="1" dirty="0"/>
          </a:p>
        </p:txBody>
      </p:sp>
    </p:spTree>
    <p:extLst>
      <p:ext uri="{BB962C8B-B14F-4D97-AF65-F5344CB8AC3E}">
        <p14:creationId xmlns:p14="http://schemas.microsoft.com/office/powerpoint/2010/main" val="206464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UML-Beziehungs-Cheat-Sheet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2507179-9FD5-4603-9316-C8DFA3630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8" y="1105368"/>
            <a:ext cx="8141484" cy="464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8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UML Notation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6C1033-F38E-405E-AADB-A71E77C14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034532"/>
            <a:ext cx="5755594" cy="217844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AF8ACA1-794F-4592-9DC7-3C78E0A64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688" y="3429001"/>
            <a:ext cx="6633360" cy="287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23773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107</Words>
  <Application>Microsoft Office PowerPoint</Application>
  <PresentationFormat>Bildschirmpräsentation (4:3)</PresentationFormat>
  <Paragraphs>37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6" baseType="lpstr">
      <vt:lpstr>Arial</vt:lpstr>
      <vt:lpstr>Standarddesign</vt:lpstr>
      <vt:lpstr>System</vt:lpstr>
      <vt:lpstr>System context diagram</vt:lpstr>
      <vt:lpstr>System</vt:lpstr>
      <vt:lpstr>UML Diagram types</vt:lpstr>
      <vt:lpstr>UML Beziehungen</vt:lpstr>
      <vt:lpstr>Class Diagram</vt:lpstr>
      <vt:lpstr>Interface als Rolle und Vertrag</vt:lpstr>
      <vt:lpstr>Use Case Diagrams</vt:lpstr>
      <vt:lpstr>Sequence Diagrams</vt:lpstr>
      <vt:lpstr>Schach-Engine als System</vt:lpstr>
      <vt:lpstr>System Context ChessProg</vt:lpstr>
      <vt:lpstr>PowerPoint-Präsentation</vt:lpstr>
      <vt:lpstr>UML-Beziehungs-Cheat-Sheet</vt:lpstr>
      <vt:lpstr>UML Notation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767</cp:revision>
  <dcterms:created xsi:type="dcterms:W3CDTF">2002-10-02T13:01:35Z</dcterms:created>
  <dcterms:modified xsi:type="dcterms:W3CDTF">2025-11-22T07:55:22Z</dcterms:modified>
</cp:coreProperties>
</file>