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1816" r:id="rId2"/>
    <p:sldId id="1826" r:id="rId3"/>
    <p:sldId id="1817" r:id="rId4"/>
    <p:sldId id="1818" r:id="rId5"/>
    <p:sldId id="1820" r:id="rId6"/>
    <p:sldId id="1821" r:id="rId7"/>
    <p:sldId id="1822" r:id="rId8"/>
    <p:sldId id="1823" r:id="rId9"/>
    <p:sldId id="1827" r:id="rId10"/>
    <p:sldId id="1833" r:id="rId11"/>
    <p:sldId id="1834" r:id="rId12"/>
    <p:sldId id="1832" r:id="rId13"/>
    <p:sldId id="1828" r:id="rId14"/>
    <p:sldId id="1830" r:id="rId15"/>
    <p:sldId id="1831" r:id="rId16"/>
    <p:sldId id="1829" r:id="rId17"/>
    <p:sldId id="1824" r:id="rId18"/>
    <p:sldId id="1825" r:id="rId19"/>
  </p:sldIdLst>
  <p:sldSz cx="9144000" cy="6858000" type="screen4x3"/>
  <p:notesSz cx="7099300" cy="10234613"/>
  <p:defaultTex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91" autoAdjust="0"/>
    <p:restoredTop sz="94978" autoAdjust="0"/>
  </p:normalViewPr>
  <p:slideViewPr>
    <p:cSldViewPr>
      <p:cViewPr>
        <p:scale>
          <a:sx n="100" d="100"/>
          <a:sy n="100" d="100"/>
        </p:scale>
        <p:origin x="481" y="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8" d="100"/>
          <a:sy n="58" d="100"/>
        </p:scale>
        <p:origin x="327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8210"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0" tIns="45709" rIns="91420" bIns="45709" numCol="1" anchor="t" anchorCtr="0" compatLnSpc="1">
            <a:prstTxWarp prst="textNoShape">
              <a:avLst/>
            </a:prstTxWarp>
          </a:bodyPr>
          <a:lstStyle>
            <a:lvl1pPr>
              <a:defRPr sz="1100"/>
            </a:lvl1pPr>
          </a:lstStyle>
          <a:p>
            <a:pPr>
              <a:defRPr/>
            </a:pPr>
            <a:endParaRPr lang="de-DE"/>
          </a:p>
        </p:txBody>
      </p:sp>
      <p:sp>
        <p:nvSpPr>
          <p:cNvPr id="1118211"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0" tIns="45709" rIns="91420" bIns="45709" numCol="1" anchor="t" anchorCtr="0" compatLnSpc="1">
            <a:prstTxWarp prst="textNoShape">
              <a:avLst/>
            </a:prstTxWarp>
          </a:bodyPr>
          <a:lstStyle>
            <a:lvl1pPr algn="r">
              <a:defRPr sz="1100"/>
            </a:lvl1pPr>
          </a:lstStyle>
          <a:p>
            <a:pPr>
              <a:defRPr/>
            </a:pPr>
            <a:endParaRPr lang="de-DE"/>
          </a:p>
        </p:txBody>
      </p:sp>
      <p:sp>
        <p:nvSpPr>
          <p:cNvPr id="1118212"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0" tIns="45709" rIns="91420" bIns="45709" numCol="1" anchor="b" anchorCtr="0" compatLnSpc="1">
            <a:prstTxWarp prst="textNoShape">
              <a:avLst/>
            </a:prstTxWarp>
          </a:bodyPr>
          <a:lstStyle>
            <a:lvl1pPr>
              <a:defRPr sz="1100"/>
            </a:lvl1pPr>
          </a:lstStyle>
          <a:p>
            <a:pPr>
              <a:defRPr/>
            </a:pPr>
            <a:endParaRPr lang="de-DE"/>
          </a:p>
        </p:txBody>
      </p:sp>
      <p:sp>
        <p:nvSpPr>
          <p:cNvPr id="1118213"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0" tIns="45709" rIns="91420" bIns="45709" numCol="1" anchor="b" anchorCtr="0" compatLnSpc="1">
            <a:prstTxWarp prst="textNoShape">
              <a:avLst/>
            </a:prstTxWarp>
          </a:bodyPr>
          <a:lstStyle>
            <a:lvl1pPr algn="r">
              <a:defRPr sz="1100"/>
            </a:lvl1pPr>
          </a:lstStyle>
          <a:p>
            <a:pPr>
              <a:defRPr/>
            </a:pPr>
            <a:fld id="{87006E12-A45D-4D6B-9DD7-136B45AB24AB}" type="slidenum">
              <a:rPr lang="de-DE"/>
              <a:pPr>
                <a:defRPr/>
              </a:pPr>
              <a:t>‹Nr.›</a:t>
            </a:fld>
            <a:endParaRPr lang="de-DE"/>
          </a:p>
        </p:txBody>
      </p:sp>
    </p:spTree>
    <p:extLst>
      <p:ext uri="{BB962C8B-B14F-4D97-AF65-F5344CB8AC3E}">
        <p14:creationId xmlns:p14="http://schemas.microsoft.com/office/powerpoint/2010/main" val="163053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283" tIns="48641" rIns="97283" bIns="48641" numCol="1" anchor="t" anchorCtr="0" compatLnSpc="1">
            <a:prstTxWarp prst="textNoShape">
              <a:avLst/>
            </a:prstTxWarp>
          </a:bodyPr>
          <a:lstStyle>
            <a:lvl1pPr defTabSz="973138">
              <a:defRPr sz="1100"/>
            </a:lvl1pPr>
          </a:lstStyle>
          <a:p>
            <a:pPr>
              <a:defRPr/>
            </a:pPr>
            <a:endParaRPr lang="de-DE"/>
          </a:p>
        </p:txBody>
      </p:sp>
      <p:sp>
        <p:nvSpPr>
          <p:cNvPr id="19459"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283" tIns="48641" rIns="97283" bIns="48641" numCol="1" anchor="t" anchorCtr="0" compatLnSpc="1">
            <a:prstTxWarp prst="textNoShape">
              <a:avLst/>
            </a:prstTxWarp>
          </a:bodyPr>
          <a:lstStyle>
            <a:lvl1pPr algn="r" defTabSz="973138">
              <a:defRPr sz="1100"/>
            </a:lvl1pPr>
          </a:lstStyle>
          <a:p>
            <a:pPr>
              <a:defRPr/>
            </a:pPr>
            <a:endParaRPr lang="de-DE"/>
          </a:p>
        </p:txBody>
      </p:sp>
      <p:sp>
        <p:nvSpPr>
          <p:cNvPr id="577540" name="Rectangle 4"/>
          <p:cNvSpPr>
            <a:spLocks noGrp="1" noRot="1" noChangeAspect="1" noChangeArrowheads="1" noTextEdit="1"/>
          </p:cNvSpPr>
          <p:nvPr>
            <p:ph type="sldImg" idx="2"/>
          </p:nvPr>
        </p:nvSpPr>
        <p:spPr bwMode="auto">
          <a:xfrm>
            <a:off x="995363" y="768350"/>
            <a:ext cx="5116512"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9461" name="Rectangle 5"/>
          <p:cNvSpPr>
            <a:spLocks noGrp="1" noChangeArrowheads="1"/>
          </p:cNvSpPr>
          <p:nvPr>
            <p:ph type="body" sz="quarter" idx="3"/>
          </p:nvPr>
        </p:nvSpPr>
        <p:spPr bwMode="auto">
          <a:xfrm>
            <a:off x="709613" y="4859338"/>
            <a:ext cx="5680075" cy="460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283" tIns="48641" rIns="97283" bIns="48641"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19462"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283" tIns="48641" rIns="97283" bIns="48641" numCol="1" anchor="b" anchorCtr="0" compatLnSpc="1">
            <a:prstTxWarp prst="textNoShape">
              <a:avLst/>
            </a:prstTxWarp>
          </a:bodyPr>
          <a:lstStyle>
            <a:lvl1pPr defTabSz="973138">
              <a:defRPr sz="1100"/>
            </a:lvl1pPr>
          </a:lstStyle>
          <a:p>
            <a:pPr>
              <a:defRPr/>
            </a:pPr>
            <a:endParaRPr lang="de-DE"/>
          </a:p>
        </p:txBody>
      </p:sp>
      <p:sp>
        <p:nvSpPr>
          <p:cNvPr id="19463"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283" tIns="48641" rIns="97283" bIns="48641" numCol="1" anchor="b" anchorCtr="0" compatLnSpc="1">
            <a:prstTxWarp prst="textNoShape">
              <a:avLst/>
            </a:prstTxWarp>
          </a:bodyPr>
          <a:lstStyle>
            <a:lvl1pPr algn="r" defTabSz="973138">
              <a:defRPr sz="1100"/>
            </a:lvl1pPr>
          </a:lstStyle>
          <a:p>
            <a:pPr>
              <a:defRPr/>
            </a:pPr>
            <a:fld id="{8F2A6DE9-2C2A-47E2-A7F9-AD00AAF2042F}" type="slidenum">
              <a:rPr lang="de-DE"/>
              <a:pPr>
                <a:defRPr/>
              </a:pPr>
              <a:t>‹Nr.›</a:t>
            </a:fld>
            <a:endParaRPr lang="de-DE"/>
          </a:p>
        </p:txBody>
      </p:sp>
    </p:spTree>
    <p:extLst>
      <p:ext uri="{BB962C8B-B14F-4D97-AF65-F5344CB8AC3E}">
        <p14:creationId xmlns:p14="http://schemas.microsoft.com/office/powerpoint/2010/main" val="28647478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a:t>Titelmasterformat durch Klicken bearbeiten</a:t>
            </a:r>
          </a:p>
        </p:txBody>
      </p:sp>
      <p:sp>
        <p:nvSpPr>
          <p:cNvPr id="3" name="Untertitel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Formatvorlage des Untertitelmasters durch Klicken bearbeiten</a:t>
            </a:r>
          </a:p>
        </p:txBody>
      </p:sp>
      <p:sp>
        <p:nvSpPr>
          <p:cNvPr id="4"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1011594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2428629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schnitts-&#10;überschrift">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 bearbeiten</a:t>
            </a:r>
          </a:p>
        </p:txBody>
      </p:sp>
      <p:sp>
        <p:nvSpPr>
          <p:cNvPr id="4" name="Rectangle 5"/>
          <p:cNvSpPr>
            <a:spLocks noGrp="1" noChangeArrowheads="1"/>
          </p:cNvSpPr>
          <p:nvPr>
            <p:ph type="ftr" sz="quarter" idx="10"/>
          </p:nvPr>
        </p:nvSpPr>
        <p:spPr>
          <a:ln/>
        </p:spPr>
        <p:txBody>
          <a:bodyPr/>
          <a:lstStyle>
            <a:lvl1pPr>
              <a:defRPr/>
            </a:lvl1pPr>
          </a:lstStyle>
          <a:p>
            <a:pPr>
              <a:defRPr/>
            </a:pPr>
            <a:r>
              <a:rPr lang="de-DE" dirty="0"/>
              <a:t>Ahmet Inci</a:t>
            </a:r>
          </a:p>
        </p:txBody>
      </p:sp>
      <p:sp>
        <p:nvSpPr>
          <p:cNvPr id="5" name="Titel 4">
            <a:extLst>
              <a:ext uri="{FF2B5EF4-FFF2-40B4-BE49-F238E27FC236}">
                <a16:creationId xmlns:a16="http://schemas.microsoft.com/office/drawing/2014/main" id="{59BB0525-20E0-A8F9-4D5A-5A97359A8C47}"/>
              </a:ext>
            </a:extLst>
          </p:cNvPr>
          <p:cNvSpPr>
            <a:spLocks noGrp="1"/>
          </p:cNvSpPr>
          <p:nvPr>
            <p:ph type="title"/>
          </p:nvPr>
        </p:nvSpPr>
        <p:spPr/>
        <p:txBody>
          <a:bodyPr/>
          <a:lstStyle/>
          <a:p>
            <a:r>
              <a:rPr lang="de-DE"/>
              <a:t>Mastertitelformat bearbeiten</a:t>
            </a:r>
            <a:endParaRPr lang="de-CH"/>
          </a:p>
        </p:txBody>
      </p:sp>
    </p:spTree>
    <p:extLst>
      <p:ext uri="{BB962C8B-B14F-4D97-AF65-F5344CB8AC3E}">
        <p14:creationId xmlns:p14="http://schemas.microsoft.com/office/powerpoint/2010/main" val="3201863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1125538"/>
            <a:ext cx="4038600"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125538"/>
            <a:ext cx="4038600"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22655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1359318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1675167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790555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
        <p:nvSpPr>
          <p:cNvPr id="5"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2756572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
        <p:nvSpPr>
          <p:cNvPr id="5"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1153151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4214161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60350"/>
            <a:ext cx="2057400" cy="6121400"/>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57200" y="260350"/>
            <a:ext cx="6019800" cy="6121400"/>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2211790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el, Tex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68313" y="260350"/>
            <a:ext cx="8135937" cy="777875"/>
          </a:xfrm>
        </p:spPr>
        <p:txBody>
          <a:bodyPr/>
          <a:lstStyle/>
          <a:p>
            <a:r>
              <a:rPr lang="de-DE"/>
              <a:t>Titelmasterformat durch Klicken bearbeiten</a:t>
            </a:r>
          </a:p>
        </p:txBody>
      </p:sp>
      <p:sp>
        <p:nvSpPr>
          <p:cNvPr id="3" name="Textplatzhalter 2"/>
          <p:cNvSpPr>
            <a:spLocks noGrp="1"/>
          </p:cNvSpPr>
          <p:nvPr>
            <p:ph type="body" sz="half" idx="1"/>
          </p:nvPr>
        </p:nvSpPr>
        <p:spPr>
          <a:xfrm>
            <a:off x="457200" y="1125538"/>
            <a:ext cx="4038600" cy="5256212"/>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125538"/>
            <a:ext cx="4038600" cy="5256212"/>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3576245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468313" y="260350"/>
            <a:ext cx="8135937" cy="777875"/>
          </a:xfrm>
        </p:spPr>
        <p:txBody>
          <a:bodyPr/>
          <a:lstStyle/>
          <a:p>
            <a:r>
              <a:rPr lang="de-DE"/>
              <a:t>Titelmasterformat durch Klicken bearbeiten</a:t>
            </a:r>
          </a:p>
        </p:txBody>
      </p:sp>
      <p:sp>
        <p:nvSpPr>
          <p:cNvPr id="3" name="Tabellenplatzhalter 2"/>
          <p:cNvSpPr>
            <a:spLocks noGrp="1"/>
          </p:cNvSpPr>
          <p:nvPr>
            <p:ph type="tbl" idx="1"/>
          </p:nvPr>
        </p:nvSpPr>
        <p:spPr>
          <a:xfrm>
            <a:off x="457200" y="1125538"/>
            <a:ext cx="8229600" cy="5256212"/>
          </a:xfrm>
        </p:spPr>
        <p:txBody>
          <a:bodyPr/>
          <a:lstStyle/>
          <a:p>
            <a:pPr lvl="0"/>
            <a:endParaRPr lang="de-DE" noProof="0"/>
          </a:p>
        </p:txBody>
      </p:sp>
      <p:sp>
        <p:nvSpPr>
          <p:cNvPr id="4"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10783851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el, Text und 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68313" y="260350"/>
            <a:ext cx="8135937" cy="777875"/>
          </a:xfrm>
        </p:spPr>
        <p:txBody>
          <a:bodyPr/>
          <a:lstStyle/>
          <a:p>
            <a:r>
              <a:rPr lang="de-DE"/>
              <a:t>Titelmasterformat durch Klicken bearbeiten</a:t>
            </a:r>
          </a:p>
        </p:txBody>
      </p:sp>
      <p:sp>
        <p:nvSpPr>
          <p:cNvPr id="3" name="Textplatzhalter 2"/>
          <p:cNvSpPr>
            <a:spLocks noGrp="1"/>
          </p:cNvSpPr>
          <p:nvPr>
            <p:ph type="body" sz="half" idx="1"/>
          </p:nvPr>
        </p:nvSpPr>
        <p:spPr>
          <a:xfrm>
            <a:off x="457200" y="1125538"/>
            <a:ext cx="4038600" cy="5256212"/>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quarter" idx="2"/>
          </p:nvPr>
        </p:nvSpPr>
        <p:spPr>
          <a:xfrm>
            <a:off x="4648200" y="1125538"/>
            <a:ext cx="4038600" cy="2551112"/>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4"/>
          <p:cNvSpPr>
            <a:spLocks noGrp="1"/>
          </p:cNvSpPr>
          <p:nvPr>
            <p:ph sz="quarter" idx="3"/>
          </p:nvPr>
        </p:nvSpPr>
        <p:spPr>
          <a:xfrm>
            <a:off x="4648200" y="3829050"/>
            <a:ext cx="4038600" cy="255270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40822727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reserve="1">
  <p:cSld name="Titel und Text über Inhalt">
    <p:spTree>
      <p:nvGrpSpPr>
        <p:cNvPr id="1" name=""/>
        <p:cNvGrpSpPr/>
        <p:nvPr/>
      </p:nvGrpSpPr>
      <p:grpSpPr>
        <a:xfrm>
          <a:off x="0" y="0"/>
          <a:ext cx="0" cy="0"/>
          <a:chOff x="0" y="0"/>
          <a:chExt cx="0" cy="0"/>
        </a:xfrm>
      </p:grpSpPr>
      <p:sp>
        <p:nvSpPr>
          <p:cNvPr id="2" name="Titel 1"/>
          <p:cNvSpPr>
            <a:spLocks noGrp="1"/>
          </p:cNvSpPr>
          <p:nvPr>
            <p:ph type="title"/>
          </p:nvPr>
        </p:nvSpPr>
        <p:spPr>
          <a:xfrm>
            <a:off x="468313" y="260350"/>
            <a:ext cx="8135937" cy="777875"/>
          </a:xfrm>
        </p:spPr>
        <p:txBody>
          <a:bodyPr/>
          <a:lstStyle/>
          <a:p>
            <a:r>
              <a:rPr lang="de-DE"/>
              <a:t>Titelmasterformat durch Klicken bearbeiten</a:t>
            </a:r>
          </a:p>
        </p:txBody>
      </p:sp>
      <p:sp>
        <p:nvSpPr>
          <p:cNvPr id="3" name="Textplatzhalter 2"/>
          <p:cNvSpPr>
            <a:spLocks noGrp="1"/>
          </p:cNvSpPr>
          <p:nvPr>
            <p:ph type="body" sz="half" idx="1"/>
          </p:nvPr>
        </p:nvSpPr>
        <p:spPr>
          <a:xfrm>
            <a:off x="457200" y="1125538"/>
            <a:ext cx="8229600" cy="2551112"/>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p:cNvSpPr>
            <a:spLocks noGrp="1"/>
          </p:cNvSpPr>
          <p:nvPr>
            <p:ph sz="half" idx="2"/>
          </p:nvPr>
        </p:nvSpPr>
        <p:spPr>
          <a:xfrm>
            <a:off x="457200" y="3829050"/>
            <a:ext cx="8229600" cy="255270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5"/>
          <p:cNvSpPr>
            <a:spLocks noGrp="1" noChangeArrowheads="1"/>
          </p:cNvSpPr>
          <p:nvPr>
            <p:ph type="ftr" sz="quarter" idx="10"/>
          </p:nvPr>
        </p:nvSpPr>
        <p:spPr>
          <a:ln/>
        </p:spPr>
        <p:txBody>
          <a:bodyPr/>
          <a:lstStyle>
            <a:lvl1pPr>
              <a:defRPr/>
            </a:lvl1pPr>
          </a:lstStyle>
          <a:p>
            <a:pPr>
              <a:defRPr/>
            </a:pPr>
            <a:r>
              <a:rPr lang="de-DE" dirty="0"/>
              <a:t>Ahmet Inci</a:t>
            </a:r>
          </a:p>
        </p:txBody>
      </p:sp>
    </p:spTree>
    <p:extLst>
      <p:ext uri="{BB962C8B-B14F-4D97-AF65-F5344CB8AC3E}">
        <p14:creationId xmlns:p14="http://schemas.microsoft.com/office/powerpoint/2010/main" val="2738540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8313" y="260350"/>
            <a:ext cx="8135937"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de-DE" altLang="de-DE"/>
              <a:t>Titelmasterformat durch Klicken bearbeiten</a:t>
            </a:r>
          </a:p>
        </p:txBody>
      </p:sp>
      <p:sp>
        <p:nvSpPr>
          <p:cNvPr id="1027" name="Rectangle 3"/>
          <p:cNvSpPr>
            <a:spLocks noGrp="1" noChangeArrowheads="1"/>
          </p:cNvSpPr>
          <p:nvPr>
            <p:ph type="body" idx="1"/>
          </p:nvPr>
        </p:nvSpPr>
        <p:spPr bwMode="auto">
          <a:xfrm>
            <a:off x="457200" y="1125538"/>
            <a:ext cx="8229600" cy="5256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ltLang="de-DE" dirty="0"/>
              <a:t>Textmasterformate durch Klicken bearbeiten</a:t>
            </a:r>
          </a:p>
          <a:p>
            <a:pPr lvl="1"/>
            <a:r>
              <a:rPr lang="de-DE" altLang="de-DE" dirty="0"/>
              <a:t>Zweite Ebene</a:t>
            </a:r>
          </a:p>
          <a:p>
            <a:pPr lvl="2"/>
            <a:r>
              <a:rPr lang="de-DE" altLang="de-DE" dirty="0"/>
              <a:t>Dritte Ebene</a:t>
            </a:r>
          </a:p>
          <a:p>
            <a:pPr lvl="3"/>
            <a:r>
              <a:rPr lang="de-DE" altLang="de-DE" dirty="0"/>
              <a:t>Vierte Ebene</a:t>
            </a:r>
          </a:p>
          <a:p>
            <a:pPr lvl="4"/>
            <a:r>
              <a:rPr lang="de-DE" altLang="de-DE" dirty="0"/>
              <a:t>Fünfte Ebene</a:t>
            </a:r>
          </a:p>
        </p:txBody>
      </p:sp>
      <p:sp>
        <p:nvSpPr>
          <p:cNvPr id="1029" name="Rectangle 5"/>
          <p:cNvSpPr>
            <a:spLocks noGrp="1" noChangeArrowheads="1"/>
          </p:cNvSpPr>
          <p:nvPr>
            <p:ph type="ftr" sz="quarter" idx="3"/>
          </p:nvPr>
        </p:nvSpPr>
        <p:spPr bwMode="auto">
          <a:xfrm>
            <a:off x="4932363" y="6453188"/>
            <a:ext cx="1800225"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vl1pPr>
          </a:lstStyle>
          <a:p>
            <a:pPr>
              <a:defRPr/>
            </a:pPr>
            <a:r>
              <a:rPr lang="de-DE" dirty="0"/>
              <a:t>Ahmet Inci</a:t>
            </a:r>
          </a:p>
        </p:txBody>
      </p:sp>
      <p:sp>
        <p:nvSpPr>
          <p:cNvPr id="2" name="Line 8"/>
          <p:cNvSpPr>
            <a:spLocks noChangeShapeType="1"/>
          </p:cNvSpPr>
          <p:nvPr/>
        </p:nvSpPr>
        <p:spPr bwMode="auto">
          <a:xfrm>
            <a:off x="460375" y="990600"/>
            <a:ext cx="8150225" cy="0"/>
          </a:xfrm>
          <a:prstGeom prst="line">
            <a:avLst/>
          </a:prstGeom>
          <a:noFill/>
          <a:ln w="25400">
            <a:solidFill>
              <a:srgbClr val="042EAE"/>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030" name="Rectangle 10"/>
          <p:cNvSpPr>
            <a:spLocks noChangeArrowheads="1"/>
          </p:cNvSpPr>
          <p:nvPr/>
        </p:nvSpPr>
        <p:spPr bwMode="auto">
          <a:xfrm>
            <a:off x="468313" y="6453188"/>
            <a:ext cx="3167062"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de-DE" altLang="de-DE" sz="1200" dirty="0"/>
              <a:t>4+1 Sicht in UML</a:t>
            </a:r>
          </a:p>
        </p:txBody>
      </p:sp>
      <p:sp>
        <p:nvSpPr>
          <p:cNvPr id="1031" name="Line 11"/>
          <p:cNvSpPr>
            <a:spLocks noChangeShapeType="1"/>
          </p:cNvSpPr>
          <p:nvPr/>
        </p:nvSpPr>
        <p:spPr bwMode="auto">
          <a:xfrm>
            <a:off x="468313" y="6381750"/>
            <a:ext cx="8150225" cy="0"/>
          </a:xfrm>
          <a:prstGeom prst="line">
            <a:avLst/>
          </a:prstGeom>
          <a:noFill/>
          <a:ln w="25400">
            <a:solidFill>
              <a:srgbClr val="042EAE"/>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032" name="Rectangle 12"/>
          <p:cNvSpPr>
            <a:spLocks noChangeArrowheads="1"/>
          </p:cNvSpPr>
          <p:nvPr/>
        </p:nvSpPr>
        <p:spPr bwMode="auto">
          <a:xfrm>
            <a:off x="6516688" y="6453188"/>
            <a:ext cx="2159000"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C735F766-00C7-4EB1-BD21-B0B9E251CF11}" type="slidenum">
              <a:rPr lang="de-DE" altLang="de-DE" sz="1200"/>
              <a:pPr algn="r" eaLnBrk="1" hangingPunct="1"/>
              <a:t>‹Nr.›</a:t>
            </a:fld>
            <a:endParaRPr lang="de-DE" altLang="de-DE" sz="12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dt="0"/>
  <p:txStyles>
    <p:title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charset="0"/>
        </a:defRPr>
      </a:lvl2pPr>
      <a:lvl3pPr algn="l" rtl="0" eaLnBrk="0" fontAlgn="base" hangingPunct="0">
        <a:spcBef>
          <a:spcPct val="0"/>
        </a:spcBef>
        <a:spcAft>
          <a:spcPct val="0"/>
        </a:spcAft>
        <a:defRPr sz="2400" b="1">
          <a:solidFill>
            <a:schemeClr val="tx2"/>
          </a:solidFill>
          <a:latin typeface="Arial" charset="0"/>
        </a:defRPr>
      </a:lvl3pPr>
      <a:lvl4pPr algn="l" rtl="0" eaLnBrk="0" fontAlgn="base" hangingPunct="0">
        <a:spcBef>
          <a:spcPct val="0"/>
        </a:spcBef>
        <a:spcAft>
          <a:spcPct val="0"/>
        </a:spcAft>
        <a:defRPr sz="2400" b="1">
          <a:solidFill>
            <a:schemeClr val="tx2"/>
          </a:solidFill>
          <a:latin typeface="Arial" charset="0"/>
        </a:defRPr>
      </a:lvl4pPr>
      <a:lvl5pPr algn="l" rtl="0" eaLnBrk="0" fontAlgn="base" hangingPunct="0">
        <a:spcBef>
          <a:spcPct val="0"/>
        </a:spcBef>
        <a:spcAft>
          <a:spcPct val="0"/>
        </a:spcAft>
        <a:defRPr sz="2400" b="1">
          <a:solidFill>
            <a:schemeClr val="tx2"/>
          </a:solidFill>
          <a:latin typeface="Arial" charset="0"/>
        </a:defRPr>
      </a:lvl5pPr>
      <a:lvl6pPr marL="457200" algn="l" rtl="0" fontAlgn="base">
        <a:spcBef>
          <a:spcPct val="0"/>
        </a:spcBef>
        <a:spcAft>
          <a:spcPct val="0"/>
        </a:spcAft>
        <a:defRPr sz="2400" b="1">
          <a:solidFill>
            <a:schemeClr val="tx2"/>
          </a:solidFill>
          <a:latin typeface="Arial" charset="0"/>
        </a:defRPr>
      </a:lvl6pPr>
      <a:lvl7pPr marL="914400" algn="l" rtl="0" fontAlgn="base">
        <a:spcBef>
          <a:spcPct val="0"/>
        </a:spcBef>
        <a:spcAft>
          <a:spcPct val="0"/>
        </a:spcAft>
        <a:defRPr sz="2400" b="1">
          <a:solidFill>
            <a:schemeClr val="tx2"/>
          </a:solidFill>
          <a:latin typeface="Arial" charset="0"/>
        </a:defRPr>
      </a:lvl7pPr>
      <a:lvl8pPr marL="1371600" algn="l" rtl="0" fontAlgn="base">
        <a:spcBef>
          <a:spcPct val="0"/>
        </a:spcBef>
        <a:spcAft>
          <a:spcPct val="0"/>
        </a:spcAft>
        <a:defRPr sz="2400" b="1">
          <a:solidFill>
            <a:schemeClr val="tx2"/>
          </a:solidFill>
          <a:latin typeface="Arial" charset="0"/>
        </a:defRPr>
      </a:lvl8pPr>
      <a:lvl9pPr marL="1828800" algn="l" rtl="0" fontAlgn="base">
        <a:spcBef>
          <a:spcPct val="0"/>
        </a:spcBef>
        <a:spcAft>
          <a:spcPct val="0"/>
        </a:spcAft>
        <a:defRPr sz="24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defRPr>
      </a:lvl2pPr>
      <a:lvl3pPr marL="1143000" indent="-228600" algn="l" rtl="0" eaLnBrk="0" fontAlgn="base" hangingPunct="0">
        <a:spcBef>
          <a:spcPct val="20000"/>
        </a:spcBef>
        <a:spcAft>
          <a:spcPct val="0"/>
        </a:spcAft>
        <a:buChar char="•"/>
        <a:defRPr sz="2400" b="1">
          <a:solidFill>
            <a:schemeClr val="tx1"/>
          </a:solidFill>
          <a:latin typeface="+mn-lt"/>
        </a:defRPr>
      </a:lvl3pPr>
      <a:lvl4pPr marL="1600200" indent="-228600" algn="l" rtl="0" eaLnBrk="0" fontAlgn="base" hangingPunct="0">
        <a:spcBef>
          <a:spcPct val="20000"/>
        </a:spcBef>
        <a:spcAft>
          <a:spcPct val="0"/>
        </a:spcAft>
        <a:buChar char="–"/>
        <a:defRPr sz="2000" b="1">
          <a:solidFill>
            <a:schemeClr val="tx1"/>
          </a:solidFill>
          <a:latin typeface="+mn-lt"/>
        </a:defRPr>
      </a:lvl4pPr>
      <a:lvl5pPr marL="2057400" indent="-228600" algn="l" rtl="0" eaLnBrk="0" fontAlgn="base" hangingPunct="0">
        <a:spcBef>
          <a:spcPct val="20000"/>
        </a:spcBef>
        <a:spcAft>
          <a:spcPct val="0"/>
        </a:spcAft>
        <a:buChar char="»"/>
        <a:defRPr sz="2000" b="1">
          <a:solidFill>
            <a:schemeClr val="tx1"/>
          </a:solidFill>
          <a:latin typeface="+mn-lt"/>
        </a:defRPr>
      </a:lvl5pPr>
      <a:lvl6pPr marL="2514600" indent="-228600" algn="l" rtl="0" fontAlgn="base">
        <a:spcBef>
          <a:spcPct val="20000"/>
        </a:spcBef>
        <a:spcAft>
          <a:spcPct val="0"/>
        </a:spcAft>
        <a:buChar char="»"/>
        <a:defRPr sz="2000" b="1">
          <a:solidFill>
            <a:schemeClr val="tx1"/>
          </a:solidFill>
          <a:latin typeface="+mn-lt"/>
        </a:defRPr>
      </a:lvl6pPr>
      <a:lvl7pPr marL="2971800" indent="-228600" algn="l" rtl="0" fontAlgn="base">
        <a:spcBef>
          <a:spcPct val="20000"/>
        </a:spcBef>
        <a:spcAft>
          <a:spcPct val="0"/>
        </a:spcAft>
        <a:buChar char="»"/>
        <a:defRPr sz="2000" b="1">
          <a:solidFill>
            <a:schemeClr val="tx1"/>
          </a:solidFill>
          <a:latin typeface="+mn-lt"/>
        </a:defRPr>
      </a:lvl7pPr>
      <a:lvl8pPr marL="3429000" indent="-228600" algn="l" rtl="0" fontAlgn="base">
        <a:spcBef>
          <a:spcPct val="20000"/>
        </a:spcBef>
        <a:spcAft>
          <a:spcPct val="0"/>
        </a:spcAft>
        <a:buChar char="»"/>
        <a:defRPr sz="2000" b="1">
          <a:solidFill>
            <a:schemeClr val="tx1"/>
          </a:solidFill>
          <a:latin typeface="+mn-lt"/>
        </a:defRPr>
      </a:lvl8pPr>
      <a:lvl9pPr marL="3886200" indent="-228600" algn="l" rtl="0" fontAlgn="base">
        <a:spcBef>
          <a:spcPct val="20000"/>
        </a:spcBef>
        <a:spcAft>
          <a:spcPct val="0"/>
        </a:spcAft>
        <a:buChar char="»"/>
        <a:defRPr sz="2000" b="1">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a:t>System</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pic>
        <p:nvPicPr>
          <p:cNvPr id="5" name="Inhaltsplatzhalter 4">
            <a:extLst>
              <a:ext uri="{FF2B5EF4-FFF2-40B4-BE49-F238E27FC236}">
                <a16:creationId xmlns:a16="http://schemas.microsoft.com/office/drawing/2014/main" id="{D9064E0C-7635-427C-211E-0BEF28919605}"/>
              </a:ext>
            </a:extLst>
          </p:cNvPr>
          <p:cNvPicPr>
            <a:picLocks noGrp="1" noChangeAspect="1"/>
          </p:cNvPicPr>
          <p:nvPr>
            <p:ph idx="1"/>
          </p:nvPr>
        </p:nvPicPr>
        <p:blipFill>
          <a:blip r:embed="rId2"/>
          <a:stretch>
            <a:fillRect/>
          </a:stretch>
        </p:blipFill>
        <p:spPr>
          <a:xfrm>
            <a:off x="700704" y="1688445"/>
            <a:ext cx="7742591" cy="4130398"/>
          </a:xfrm>
          <a:prstGeom prst="rect">
            <a:avLst/>
          </a:prstGeom>
        </p:spPr>
      </p:pic>
    </p:spTree>
    <p:extLst>
      <p:ext uri="{BB962C8B-B14F-4D97-AF65-F5344CB8AC3E}">
        <p14:creationId xmlns:p14="http://schemas.microsoft.com/office/powerpoint/2010/main" val="1159756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a:t>Software-Entwicklungslebenszyklus </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pic>
        <p:nvPicPr>
          <p:cNvPr id="7" name="Grafik 6">
            <a:extLst>
              <a:ext uri="{FF2B5EF4-FFF2-40B4-BE49-F238E27FC236}">
                <a16:creationId xmlns:a16="http://schemas.microsoft.com/office/drawing/2014/main" id="{1CF54975-E346-4D28-92D8-F38E5C0B0EDA}"/>
              </a:ext>
            </a:extLst>
          </p:cNvPr>
          <p:cNvPicPr>
            <a:picLocks noChangeAspect="1"/>
          </p:cNvPicPr>
          <p:nvPr/>
        </p:nvPicPr>
        <p:blipFill>
          <a:blip r:embed="rId2"/>
          <a:stretch>
            <a:fillRect/>
          </a:stretch>
        </p:blipFill>
        <p:spPr>
          <a:xfrm>
            <a:off x="803" y="1041549"/>
            <a:ext cx="4535478" cy="2894831"/>
          </a:xfrm>
          <a:prstGeom prst="rect">
            <a:avLst/>
          </a:prstGeom>
        </p:spPr>
      </p:pic>
      <p:pic>
        <p:nvPicPr>
          <p:cNvPr id="8" name="Grafik 7">
            <a:extLst>
              <a:ext uri="{FF2B5EF4-FFF2-40B4-BE49-F238E27FC236}">
                <a16:creationId xmlns:a16="http://schemas.microsoft.com/office/drawing/2014/main" id="{349E9D7C-671B-45ED-AD07-95D2ADB92D18}"/>
              </a:ext>
            </a:extLst>
          </p:cNvPr>
          <p:cNvPicPr>
            <a:picLocks noChangeAspect="1"/>
          </p:cNvPicPr>
          <p:nvPr/>
        </p:nvPicPr>
        <p:blipFill>
          <a:blip r:embed="rId3"/>
          <a:stretch>
            <a:fillRect/>
          </a:stretch>
        </p:blipFill>
        <p:spPr>
          <a:xfrm>
            <a:off x="3059832" y="3573016"/>
            <a:ext cx="6055984" cy="1751898"/>
          </a:xfrm>
          <a:prstGeom prst="rect">
            <a:avLst/>
          </a:prstGeom>
        </p:spPr>
      </p:pic>
    </p:spTree>
    <p:extLst>
      <p:ext uri="{BB962C8B-B14F-4D97-AF65-F5344CB8AC3E}">
        <p14:creationId xmlns:p14="http://schemas.microsoft.com/office/powerpoint/2010/main" val="2364804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a:t>Einführung in das 4+1-Architekturmodell</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sp>
        <p:nvSpPr>
          <p:cNvPr id="3" name="Inhaltsplatzhalter 2">
            <a:extLst>
              <a:ext uri="{FF2B5EF4-FFF2-40B4-BE49-F238E27FC236}">
                <a16:creationId xmlns:a16="http://schemas.microsoft.com/office/drawing/2014/main" id="{B9837B08-0625-E2D3-C407-20A9948A9A20}"/>
              </a:ext>
            </a:extLst>
          </p:cNvPr>
          <p:cNvSpPr>
            <a:spLocks noGrp="1"/>
          </p:cNvSpPr>
          <p:nvPr>
            <p:ph idx="1"/>
          </p:nvPr>
        </p:nvSpPr>
        <p:spPr/>
        <p:txBody>
          <a:bodyPr/>
          <a:lstStyle/>
          <a:p>
            <a:r>
              <a:rPr lang="de-DE" sz="1600" dirty="0"/>
              <a:t>Das 4+1-Architekturmodell hilft dabei, eine umfassende Darstellung eines Softwaresystems aus fünf verschiedenen Perspektiven zu liefern. Logische Sicht, Entwicklungssicht, Prozesssicht, Verteilungssicht und Szenarien (Anwendungsfälle). Zusammen bieten diese Sichten eine ganzheitliche Perspektive auf die Architektur eines Systems.</a:t>
            </a:r>
            <a:endParaRPr lang="de-CH" sz="1600" dirty="0"/>
          </a:p>
        </p:txBody>
      </p:sp>
      <p:pic>
        <p:nvPicPr>
          <p:cNvPr id="7" name="Grafik 6">
            <a:extLst>
              <a:ext uri="{FF2B5EF4-FFF2-40B4-BE49-F238E27FC236}">
                <a16:creationId xmlns:a16="http://schemas.microsoft.com/office/drawing/2014/main" id="{179828EA-90BF-82E2-E859-0DC32C9F45D3}"/>
              </a:ext>
            </a:extLst>
          </p:cNvPr>
          <p:cNvPicPr>
            <a:picLocks noChangeAspect="1"/>
          </p:cNvPicPr>
          <p:nvPr/>
        </p:nvPicPr>
        <p:blipFill>
          <a:blip r:embed="rId2"/>
          <a:stretch>
            <a:fillRect/>
          </a:stretch>
        </p:blipFill>
        <p:spPr>
          <a:xfrm>
            <a:off x="2267744" y="2492896"/>
            <a:ext cx="5014395" cy="3696020"/>
          </a:xfrm>
          <a:prstGeom prst="rect">
            <a:avLst/>
          </a:prstGeom>
        </p:spPr>
      </p:pic>
    </p:spTree>
    <p:extLst>
      <p:ext uri="{BB962C8B-B14F-4D97-AF65-F5344CB8AC3E}">
        <p14:creationId xmlns:p14="http://schemas.microsoft.com/office/powerpoint/2010/main" val="309261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a:t>Logische Sicht</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sp>
        <p:nvSpPr>
          <p:cNvPr id="3" name="Inhaltsplatzhalter 2">
            <a:extLst>
              <a:ext uri="{FF2B5EF4-FFF2-40B4-BE49-F238E27FC236}">
                <a16:creationId xmlns:a16="http://schemas.microsoft.com/office/drawing/2014/main" id="{B9837B08-0625-E2D3-C407-20A9948A9A20}"/>
              </a:ext>
            </a:extLst>
          </p:cNvPr>
          <p:cNvSpPr>
            <a:spLocks noGrp="1"/>
          </p:cNvSpPr>
          <p:nvPr>
            <p:ph idx="1"/>
          </p:nvPr>
        </p:nvSpPr>
        <p:spPr>
          <a:xfrm>
            <a:off x="457200" y="1125538"/>
            <a:ext cx="5482952" cy="5256212"/>
          </a:xfrm>
        </p:spPr>
        <p:txBody>
          <a:bodyPr/>
          <a:lstStyle/>
          <a:p>
            <a:r>
              <a:rPr lang="en-US" sz="1600" dirty="0" err="1"/>
              <a:t>Zweck</a:t>
            </a:r>
            <a:r>
              <a:rPr lang="en-US" sz="1600" dirty="0"/>
              <a:t>: </a:t>
            </a:r>
            <a:r>
              <a:rPr lang="de-DE" sz="1600" dirty="0"/>
              <a:t>Verstehen der primären funktionalen Komponenten und ihrer Interaktionen. Diese Sicht bietet einen Überblick über die wichtigsten Strukturen</a:t>
            </a:r>
            <a:endParaRPr lang="de-CH" sz="1600" dirty="0"/>
          </a:p>
          <a:p>
            <a:r>
              <a:rPr lang="de-CH" sz="1600" dirty="0"/>
              <a:t>Online-Buchhandlung:</a:t>
            </a:r>
          </a:p>
          <a:p>
            <a:pPr lvl="1"/>
            <a:r>
              <a:rPr lang="de-CH" sz="1600" dirty="0"/>
              <a:t>Benutzermanagement, Katalogverwaltung, Warenkorb, Bestellverwaltung</a:t>
            </a:r>
          </a:p>
        </p:txBody>
      </p:sp>
      <p:pic>
        <p:nvPicPr>
          <p:cNvPr id="9" name="Grafik 8">
            <a:extLst>
              <a:ext uri="{FF2B5EF4-FFF2-40B4-BE49-F238E27FC236}">
                <a16:creationId xmlns:a16="http://schemas.microsoft.com/office/drawing/2014/main" id="{25BAB335-1F47-4315-BB97-47117A7888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4168" y="1152718"/>
            <a:ext cx="2293900" cy="4941168"/>
          </a:xfrm>
          <a:prstGeom prst="rect">
            <a:avLst/>
          </a:prstGeom>
        </p:spPr>
      </p:pic>
      <p:pic>
        <p:nvPicPr>
          <p:cNvPr id="11" name="Grafik 10">
            <a:extLst>
              <a:ext uri="{FF2B5EF4-FFF2-40B4-BE49-F238E27FC236}">
                <a16:creationId xmlns:a16="http://schemas.microsoft.com/office/drawing/2014/main" id="{42274DC0-91E2-4E21-B102-0E371E801605}"/>
              </a:ext>
            </a:extLst>
          </p:cNvPr>
          <p:cNvPicPr>
            <a:picLocks noChangeAspect="1"/>
          </p:cNvPicPr>
          <p:nvPr/>
        </p:nvPicPr>
        <p:blipFill>
          <a:blip r:embed="rId3"/>
          <a:stretch>
            <a:fillRect/>
          </a:stretch>
        </p:blipFill>
        <p:spPr>
          <a:xfrm>
            <a:off x="539552" y="3429000"/>
            <a:ext cx="5090499" cy="2102137"/>
          </a:xfrm>
          <a:prstGeom prst="rect">
            <a:avLst/>
          </a:prstGeom>
        </p:spPr>
      </p:pic>
    </p:spTree>
    <p:extLst>
      <p:ext uri="{BB962C8B-B14F-4D97-AF65-F5344CB8AC3E}">
        <p14:creationId xmlns:p14="http://schemas.microsoft.com/office/powerpoint/2010/main" val="2319923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a:t>Entwicklungssicht</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sp>
        <p:nvSpPr>
          <p:cNvPr id="3" name="Inhaltsplatzhalter 2">
            <a:extLst>
              <a:ext uri="{FF2B5EF4-FFF2-40B4-BE49-F238E27FC236}">
                <a16:creationId xmlns:a16="http://schemas.microsoft.com/office/drawing/2014/main" id="{B9837B08-0625-E2D3-C407-20A9948A9A20}"/>
              </a:ext>
            </a:extLst>
          </p:cNvPr>
          <p:cNvSpPr>
            <a:spLocks noGrp="1"/>
          </p:cNvSpPr>
          <p:nvPr>
            <p:ph idx="1"/>
          </p:nvPr>
        </p:nvSpPr>
        <p:spPr>
          <a:xfrm>
            <a:off x="457200" y="1125538"/>
            <a:ext cx="3860034" cy="1511374"/>
          </a:xfrm>
        </p:spPr>
        <p:txBody>
          <a:bodyPr/>
          <a:lstStyle/>
          <a:p>
            <a:r>
              <a:rPr lang="de-CH" sz="1600" dirty="0"/>
              <a:t>Zweck: </a:t>
            </a:r>
            <a:r>
              <a:rPr lang="de-DE" sz="1600" dirty="0"/>
              <a:t>Darstellung der Organisation der Software in der Entwicklungsumgebung.</a:t>
            </a:r>
          </a:p>
          <a:p>
            <a:pPr marL="0" indent="0">
              <a:buNone/>
            </a:pPr>
            <a:endParaRPr lang="de-CH" sz="1600" dirty="0"/>
          </a:p>
        </p:txBody>
      </p:sp>
      <p:pic>
        <p:nvPicPr>
          <p:cNvPr id="7" name="Grafik 6">
            <a:extLst>
              <a:ext uri="{FF2B5EF4-FFF2-40B4-BE49-F238E27FC236}">
                <a16:creationId xmlns:a16="http://schemas.microsoft.com/office/drawing/2014/main" id="{F8A281ED-8856-4943-97C2-D00234871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3872" y="1355068"/>
            <a:ext cx="3860034" cy="4797152"/>
          </a:xfrm>
          <a:prstGeom prst="rect">
            <a:avLst/>
          </a:prstGeom>
        </p:spPr>
      </p:pic>
      <p:pic>
        <p:nvPicPr>
          <p:cNvPr id="9" name="Grafik 8">
            <a:extLst>
              <a:ext uri="{FF2B5EF4-FFF2-40B4-BE49-F238E27FC236}">
                <a16:creationId xmlns:a16="http://schemas.microsoft.com/office/drawing/2014/main" id="{40B56AD7-A086-4FAC-A402-34BD2EE54461}"/>
              </a:ext>
            </a:extLst>
          </p:cNvPr>
          <p:cNvPicPr>
            <a:picLocks noChangeAspect="1"/>
          </p:cNvPicPr>
          <p:nvPr/>
        </p:nvPicPr>
        <p:blipFill>
          <a:blip r:embed="rId3"/>
          <a:stretch>
            <a:fillRect/>
          </a:stretch>
        </p:blipFill>
        <p:spPr>
          <a:xfrm>
            <a:off x="323528" y="4005064"/>
            <a:ext cx="4536504" cy="1770208"/>
          </a:xfrm>
          <a:prstGeom prst="rect">
            <a:avLst/>
          </a:prstGeom>
        </p:spPr>
      </p:pic>
    </p:spTree>
    <p:extLst>
      <p:ext uri="{BB962C8B-B14F-4D97-AF65-F5344CB8AC3E}">
        <p14:creationId xmlns:p14="http://schemas.microsoft.com/office/powerpoint/2010/main" val="1685647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a:t>Prozess Sicht</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sp>
        <p:nvSpPr>
          <p:cNvPr id="3" name="Inhaltsplatzhalter 2">
            <a:extLst>
              <a:ext uri="{FF2B5EF4-FFF2-40B4-BE49-F238E27FC236}">
                <a16:creationId xmlns:a16="http://schemas.microsoft.com/office/drawing/2014/main" id="{B9837B08-0625-E2D3-C407-20A9948A9A20}"/>
              </a:ext>
            </a:extLst>
          </p:cNvPr>
          <p:cNvSpPr>
            <a:spLocks noGrp="1"/>
          </p:cNvSpPr>
          <p:nvPr>
            <p:ph idx="1"/>
          </p:nvPr>
        </p:nvSpPr>
        <p:spPr/>
        <p:txBody>
          <a:bodyPr/>
          <a:lstStyle/>
          <a:p>
            <a:r>
              <a:rPr lang="de-DE" sz="1600" dirty="0"/>
              <a:t>Zweck: Das dynamische Verhalten des Systems verstehen, einschließlich Parallelität und Laufzeitinteraktionen. Nach der statischen Struktur werden die dynamischen Interaktionen erfasst.</a:t>
            </a:r>
            <a:endParaRPr lang="de-CH" sz="1600" dirty="0"/>
          </a:p>
        </p:txBody>
      </p:sp>
      <p:pic>
        <p:nvPicPr>
          <p:cNvPr id="6" name="Grafik 5">
            <a:extLst>
              <a:ext uri="{FF2B5EF4-FFF2-40B4-BE49-F238E27FC236}">
                <a16:creationId xmlns:a16="http://schemas.microsoft.com/office/drawing/2014/main" id="{0049361E-FD74-395A-6306-2B0624A2EE75}"/>
              </a:ext>
            </a:extLst>
          </p:cNvPr>
          <p:cNvPicPr>
            <a:picLocks noChangeAspect="1"/>
          </p:cNvPicPr>
          <p:nvPr/>
        </p:nvPicPr>
        <p:blipFill>
          <a:blip r:embed="rId2"/>
          <a:stretch>
            <a:fillRect/>
          </a:stretch>
        </p:blipFill>
        <p:spPr>
          <a:xfrm>
            <a:off x="883068" y="2420888"/>
            <a:ext cx="7306425" cy="3110067"/>
          </a:xfrm>
          <a:prstGeom prst="rect">
            <a:avLst/>
          </a:prstGeom>
        </p:spPr>
      </p:pic>
    </p:spTree>
    <p:extLst>
      <p:ext uri="{BB962C8B-B14F-4D97-AF65-F5344CB8AC3E}">
        <p14:creationId xmlns:p14="http://schemas.microsoft.com/office/powerpoint/2010/main" val="601825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a:t>Verteilungssicht </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sp>
        <p:nvSpPr>
          <p:cNvPr id="3" name="Inhaltsplatzhalter 2">
            <a:extLst>
              <a:ext uri="{FF2B5EF4-FFF2-40B4-BE49-F238E27FC236}">
                <a16:creationId xmlns:a16="http://schemas.microsoft.com/office/drawing/2014/main" id="{B9837B08-0625-E2D3-C407-20A9948A9A20}"/>
              </a:ext>
            </a:extLst>
          </p:cNvPr>
          <p:cNvSpPr>
            <a:spLocks noGrp="1"/>
          </p:cNvSpPr>
          <p:nvPr>
            <p:ph idx="1"/>
          </p:nvPr>
        </p:nvSpPr>
        <p:spPr/>
        <p:txBody>
          <a:bodyPr/>
          <a:lstStyle/>
          <a:p>
            <a:r>
              <a:rPr lang="de-DE" sz="1600" dirty="0"/>
              <a:t>Darstellung der physischen Verteilung des Systems. Nachdem die logische, die Entwicklungs- und die Prozesssicht definiert wurden, wird die Bereitstellung betrachtet.</a:t>
            </a:r>
            <a:endParaRPr lang="en-US" sz="1600" dirty="0"/>
          </a:p>
          <a:p>
            <a:endParaRPr lang="de-CH" sz="1600" dirty="0"/>
          </a:p>
        </p:txBody>
      </p:sp>
      <p:pic>
        <p:nvPicPr>
          <p:cNvPr id="6" name="Grafik 5">
            <a:extLst>
              <a:ext uri="{FF2B5EF4-FFF2-40B4-BE49-F238E27FC236}">
                <a16:creationId xmlns:a16="http://schemas.microsoft.com/office/drawing/2014/main" id="{F833ADDB-3385-4507-9A09-3E245BA81FCD}"/>
              </a:ext>
            </a:extLst>
          </p:cNvPr>
          <p:cNvPicPr>
            <a:picLocks noChangeAspect="1"/>
          </p:cNvPicPr>
          <p:nvPr/>
        </p:nvPicPr>
        <p:blipFill>
          <a:blip r:embed="rId2"/>
          <a:stretch>
            <a:fillRect/>
          </a:stretch>
        </p:blipFill>
        <p:spPr>
          <a:xfrm>
            <a:off x="1187624" y="1988840"/>
            <a:ext cx="6848525" cy="4124355"/>
          </a:xfrm>
          <a:prstGeom prst="rect">
            <a:avLst/>
          </a:prstGeom>
        </p:spPr>
      </p:pic>
    </p:spTree>
    <p:extLst>
      <p:ext uri="{BB962C8B-B14F-4D97-AF65-F5344CB8AC3E}">
        <p14:creationId xmlns:p14="http://schemas.microsoft.com/office/powerpoint/2010/main" val="2480883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a:t>Use </a:t>
            </a:r>
            <a:r>
              <a:rPr lang="de-CH" dirty="0" err="1"/>
              <a:t>case</a:t>
            </a:r>
            <a:r>
              <a:rPr lang="de-CH" dirty="0"/>
              <a:t> Sicht</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sp>
        <p:nvSpPr>
          <p:cNvPr id="3" name="Inhaltsplatzhalter 2">
            <a:extLst>
              <a:ext uri="{FF2B5EF4-FFF2-40B4-BE49-F238E27FC236}">
                <a16:creationId xmlns:a16="http://schemas.microsoft.com/office/drawing/2014/main" id="{B9837B08-0625-E2D3-C407-20A9948A9A20}"/>
              </a:ext>
            </a:extLst>
          </p:cNvPr>
          <p:cNvSpPr>
            <a:spLocks noGrp="1"/>
          </p:cNvSpPr>
          <p:nvPr>
            <p:ph idx="1"/>
          </p:nvPr>
        </p:nvSpPr>
        <p:spPr/>
        <p:txBody>
          <a:bodyPr/>
          <a:lstStyle/>
          <a:p>
            <a:r>
              <a:rPr lang="de-DE" sz="1600" dirty="0"/>
              <a:t>Erfassung spezifischer Anwendungsfälle und Interaktionen zwischen Benutzern und dem System.</a:t>
            </a:r>
            <a:endParaRPr lang="de-CH" sz="1600" dirty="0"/>
          </a:p>
          <a:p>
            <a:r>
              <a:rPr lang="de-DE" sz="1600" dirty="0"/>
              <a:t>Anwendungsfälle leiten die Erstellung der Logischen Sicht (Klassen, Verantwortlichkeiten) und beeinflussen indirekt alle anderen </a:t>
            </a:r>
            <a:r>
              <a:rPr lang="de-DE" sz="1600" dirty="0" err="1"/>
              <a:t>Sichten.Sie</a:t>
            </a:r>
            <a:r>
              <a:rPr lang="de-DE" sz="1600" dirty="0"/>
              <a:t> dienen als Brücke zwischen Anforderungen und </a:t>
            </a:r>
            <a:r>
              <a:rPr lang="de-DE" sz="1600" dirty="0" err="1"/>
              <a:t>Design.Darüber</a:t>
            </a:r>
            <a:r>
              <a:rPr lang="de-DE" sz="1600" dirty="0"/>
              <a:t> hinaus spielt die Anwendungsfall-Sicht eine entscheidende Rolle bei der Validierung der Architektur.</a:t>
            </a:r>
            <a:endParaRPr lang="de-CH" sz="1600" dirty="0"/>
          </a:p>
        </p:txBody>
      </p:sp>
      <p:pic>
        <p:nvPicPr>
          <p:cNvPr id="6" name="Grafik 5">
            <a:extLst>
              <a:ext uri="{FF2B5EF4-FFF2-40B4-BE49-F238E27FC236}">
                <a16:creationId xmlns:a16="http://schemas.microsoft.com/office/drawing/2014/main" id="{134854D0-4C97-8563-7AC1-554A9F5C60BC}"/>
              </a:ext>
            </a:extLst>
          </p:cNvPr>
          <p:cNvPicPr>
            <a:picLocks noChangeAspect="1"/>
          </p:cNvPicPr>
          <p:nvPr/>
        </p:nvPicPr>
        <p:blipFill>
          <a:blip r:embed="rId2"/>
          <a:stretch>
            <a:fillRect/>
          </a:stretch>
        </p:blipFill>
        <p:spPr>
          <a:xfrm>
            <a:off x="179512" y="3212976"/>
            <a:ext cx="2808312" cy="3039090"/>
          </a:xfrm>
          <a:prstGeom prst="rect">
            <a:avLst/>
          </a:prstGeom>
        </p:spPr>
      </p:pic>
      <p:sp>
        <p:nvSpPr>
          <p:cNvPr id="11" name="Textfeld 10">
            <a:extLst>
              <a:ext uri="{FF2B5EF4-FFF2-40B4-BE49-F238E27FC236}">
                <a16:creationId xmlns:a16="http://schemas.microsoft.com/office/drawing/2014/main" id="{B147DA68-BAEB-7B37-2879-6A652832D5B2}"/>
              </a:ext>
            </a:extLst>
          </p:cNvPr>
          <p:cNvSpPr txBox="1"/>
          <p:nvPr/>
        </p:nvSpPr>
        <p:spPr>
          <a:xfrm>
            <a:off x="2843808" y="3406407"/>
            <a:ext cx="5472608" cy="2123658"/>
          </a:xfrm>
          <a:prstGeom prst="rect">
            <a:avLst/>
          </a:prstGeom>
          <a:noFill/>
        </p:spPr>
        <p:txBody>
          <a:bodyPr wrap="square">
            <a:spAutoFit/>
          </a:bodyPr>
          <a:lstStyle/>
          <a:p>
            <a:pPr marL="171450" indent="-171450">
              <a:buFont typeface="Arial" panose="020B0604020202020204" pitchFamily="34" charset="0"/>
              <a:buChar char="•"/>
            </a:pPr>
            <a:r>
              <a:rPr lang="de-CH" sz="1200" b="1" dirty="0"/>
              <a:t>Name des Anwendungsfalls</a:t>
            </a:r>
          </a:p>
          <a:p>
            <a:pPr marL="171450" indent="-171450">
              <a:buFont typeface="Arial" panose="020B0604020202020204" pitchFamily="34" charset="0"/>
              <a:buChar char="•"/>
            </a:pPr>
            <a:r>
              <a:rPr lang="de-CH" sz="1200" b="1" dirty="0"/>
              <a:t>Zweck</a:t>
            </a:r>
          </a:p>
          <a:p>
            <a:pPr marL="171450" indent="-171450">
              <a:buFont typeface="Arial" panose="020B0604020202020204" pitchFamily="34" charset="0"/>
              <a:buChar char="•"/>
            </a:pPr>
            <a:r>
              <a:rPr lang="de-CH" sz="1200" b="1" dirty="0"/>
              <a:t>Akteure</a:t>
            </a:r>
          </a:p>
          <a:p>
            <a:pPr marL="171450" indent="-171450">
              <a:buFont typeface="Arial" panose="020B0604020202020204" pitchFamily="34" charset="0"/>
              <a:buChar char="•"/>
            </a:pPr>
            <a:r>
              <a:rPr lang="de-CH" sz="1200" b="1" dirty="0"/>
              <a:t>Voraussetzungen</a:t>
            </a:r>
          </a:p>
          <a:p>
            <a:pPr marL="171450" indent="-171450">
              <a:buFont typeface="Arial" panose="020B0604020202020204" pitchFamily="34" charset="0"/>
              <a:buChar char="•"/>
            </a:pPr>
            <a:r>
              <a:rPr lang="de-CH" sz="1200" b="1" dirty="0"/>
              <a:t>Nachbedingungen</a:t>
            </a:r>
          </a:p>
          <a:p>
            <a:pPr marL="171450" indent="-171450">
              <a:buFont typeface="Arial" panose="020B0604020202020204" pitchFamily="34" charset="0"/>
              <a:buChar char="•"/>
            </a:pPr>
            <a:r>
              <a:rPr lang="de-CH" sz="1200" b="1" dirty="0"/>
              <a:t>Hauptablauf</a:t>
            </a:r>
          </a:p>
          <a:p>
            <a:pPr marL="171450" indent="-171450">
              <a:buFont typeface="Arial" panose="020B0604020202020204" pitchFamily="34" charset="0"/>
              <a:buChar char="•"/>
            </a:pPr>
            <a:r>
              <a:rPr lang="de-CH" sz="1200" b="1" dirty="0"/>
              <a:t>Alternative Abläufe, Ausnahmebehandlung</a:t>
            </a:r>
          </a:p>
          <a:p>
            <a:pPr marL="171450" indent="-171450">
              <a:buFont typeface="Arial" panose="020B0604020202020204" pitchFamily="34" charset="0"/>
              <a:buChar char="•"/>
            </a:pPr>
            <a:r>
              <a:rPr lang="de-CH" sz="1200" b="1" dirty="0"/>
              <a:t>Auslöser</a:t>
            </a:r>
          </a:p>
          <a:p>
            <a:pPr marL="171450" indent="-171450">
              <a:buFont typeface="Arial" panose="020B0604020202020204" pitchFamily="34" charset="0"/>
              <a:buChar char="•"/>
            </a:pPr>
            <a:r>
              <a:rPr lang="de-CH" sz="1200" b="1" dirty="0"/>
              <a:t>Abhängigkeiten und Bedingungen</a:t>
            </a:r>
          </a:p>
          <a:p>
            <a:pPr marL="171450" indent="-171450">
              <a:buFont typeface="Arial" panose="020B0604020202020204" pitchFamily="34" charset="0"/>
              <a:buChar char="•"/>
            </a:pPr>
            <a:endParaRPr lang="de-CH" sz="1200" b="1" dirty="0"/>
          </a:p>
          <a:p>
            <a:pPr marL="171450" indent="-171450">
              <a:buFont typeface="Arial" panose="020B0604020202020204" pitchFamily="34" charset="0"/>
              <a:buChar char="•"/>
            </a:pPr>
            <a:endParaRPr lang="de-CH" sz="1200" dirty="0"/>
          </a:p>
        </p:txBody>
      </p:sp>
    </p:spTree>
    <p:extLst>
      <p:ext uri="{BB962C8B-B14F-4D97-AF65-F5344CB8AC3E}">
        <p14:creationId xmlns:p14="http://schemas.microsoft.com/office/powerpoint/2010/main" val="1841109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err="1"/>
              <a:t>ChessProg</a:t>
            </a:r>
            <a:endParaRPr lang="de-CH" dirty="0"/>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pic>
        <p:nvPicPr>
          <p:cNvPr id="5" name="Grafik 4">
            <a:extLst>
              <a:ext uri="{FF2B5EF4-FFF2-40B4-BE49-F238E27FC236}">
                <a16:creationId xmlns:a16="http://schemas.microsoft.com/office/drawing/2014/main" id="{244C2705-473A-4830-AD76-0836C17510E9}"/>
              </a:ext>
            </a:extLst>
          </p:cNvPr>
          <p:cNvPicPr>
            <a:picLocks noChangeAspect="1"/>
          </p:cNvPicPr>
          <p:nvPr/>
        </p:nvPicPr>
        <p:blipFill>
          <a:blip r:embed="rId2"/>
          <a:stretch>
            <a:fillRect/>
          </a:stretch>
        </p:blipFill>
        <p:spPr>
          <a:xfrm>
            <a:off x="683568" y="1364181"/>
            <a:ext cx="6845802" cy="2381525"/>
          </a:xfrm>
          <a:prstGeom prst="rect">
            <a:avLst/>
          </a:prstGeom>
        </p:spPr>
      </p:pic>
      <p:pic>
        <p:nvPicPr>
          <p:cNvPr id="7" name="Grafik 6">
            <a:extLst>
              <a:ext uri="{FF2B5EF4-FFF2-40B4-BE49-F238E27FC236}">
                <a16:creationId xmlns:a16="http://schemas.microsoft.com/office/drawing/2014/main" id="{9C9F0465-7FA7-4625-9564-F13EAF8FE4BB}"/>
              </a:ext>
            </a:extLst>
          </p:cNvPr>
          <p:cNvPicPr>
            <a:picLocks noChangeAspect="1"/>
          </p:cNvPicPr>
          <p:nvPr/>
        </p:nvPicPr>
        <p:blipFill>
          <a:blip r:embed="rId3"/>
          <a:stretch>
            <a:fillRect/>
          </a:stretch>
        </p:blipFill>
        <p:spPr>
          <a:xfrm>
            <a:off x="755576" y="3861048"/>
            <a:ext cx="6049074" cy="1580467"/>
          </a:xfrm>
          <a:prstGeom prst="rect">
            <a:avLst/>
          </a:prstGeom>
        </p:spPr>
      </p:pic>
    </p:spTree>
    <p:extLst>
      <p:ext uri="{BB962C8B-B14F-4D97-AF65-F5344CB8AC3E}">
        <p14:creationId xmlns:p14="http://schemas.microsoft.com/office/powerpoint/2010/main" val="4290489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err="1"/>
              <a:t>ChessProg</a:t>
            </a:r>
            <a:r>
              <a:rPr lang="de-CH" dirty="0"/>
              <a:t>, Use Case View</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pic>
        <p:nvPicPr>
          <p:cNvPr id="5" name="Grafik 4">
            <a:extLst>
              <a:ext uri="{FF2B5EF4-FFF2-40B4-BE49-F238E27FC236}">
                <a16:creationId xmlns:a16="http://schemas.microsoft.com/office/drawing/2014/main" id="{902E016E-7277-4574-B366-6D5330E9A375}"/>
              </a:ext>
            </a:extLst>
          </p:cNvPr>
          <p:cNvPicPr>
            <a:picLocks noChangeAspect="1"/>
          </p:cNvPicPr>
          <p:nvPr/>
        </p:nvPicPr>
        <p:blipFill>
          <a:blip r:embed="rId2"/>
          <a:stretch>
            <a:fillRect/>
          </a:stretch>
        </p:blipFill>
        <p:spPr>
          <a:xfrm>
            <a:off x="1125283" y="1796573"/>
            <a:ext cx="6893433" cy="3264854"/>
          </a:xfrm>
          <a:prstGeom prst="rect">
            <a:avLst/>
          </a:prstGeom>
        </p:spPr>
      </p:pic>
    </p:spTree>
    <p:extLst>
      <p:ext uri="{BB962C8B-B14F-4D97-AF65-F5344CB8AC3E}">
        <p14:creationId xmlns:p14="http://schemas.microsoft.com/office/powerpoint/2010/main" val="890538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err="1"/>
              <a:t>ChessProg</a:t>
            </a:r>
            <a:r>
              <a:rPr lang="de-CH" dirty="0"/>
              <a:t>, Use Case View</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pic>
        <p:nvPicPr>
          <p:cNvPr id="6" name="Grafik 5">
            <a:extLst>
              <a:ext uri="{FF2B5EF4-FFF2-40B4-BE49-F238E27FC236}">
                <a16:creationId xmlns:a16="http://schemas.microsoft.com/office/drawing/2014/main" id="{16DFFE8F-5A4D-468D-AA2E-52B3B9CD66EC}"/>
              </a:ext>
            </a:extLst>
          </p:cNvPr>
          <p:cNvPicPr>
            <a:picLocks noChangeAspect="1"/>
          </p:cNvPicPr>
          <p:nvPr/>
        </p:nvPicPr>
        <p:blipFill>
          <a:blip r:embed="rId2"/>
          <a:stretch>
            <a:fillRect/>
          </a:stretch>
        </p:blipFill>
        <p:spPr>
          <a:xfrm>
            <a:off x="323528" y="1038225"/>
            <a:ext cx="7742122" cy="2247294"/>
          </a:xfrm>
          <a:prstGeom prst="rect">
            <a:avLst/>
          </a:prstGeom>
        </p:spPr>
      </p:pic>
      <p:pic>
        <p:nvPicPr>
          <p:cNvPr id="8" name="Grafik 7">
            <a:extLst>
              <a:ext uri="{FF2B5EF4-FFF2-40B4-BE49-F238E27FC236}">
                <a16:creationId xmlns:a16="http://schemas.microsoft.com/office/drawing/2014/main" id="{8C64417E-784D-4580-896E-7A06EC50C632}"/>
              </a:ext>
            </a:extLst>
          </p:cNvPr>
          <p:cNvPicPr>
            <a:picLocks noChangeAspect="1"/>
          </p:cNvPicPr>
          <p:nvPr/>
        </p:nvPicPr>
        <p:blipFill>
          <a:blip r:embed="rId3"/>
          <a:stretch>
            <a:fillRect/>
          </a:stretch>
        </p:blipFill>
        <p:spPr>
          <a:xfrm>
            <a:off x="1879798" y="3572482"/>
            <a:ext cx="5312966" cy="1597787"/>
          </a:xfrm>
          <a:prstGeom prst="rect">
            <a:avLst/>
          </a:prstGeom>
        </p:spPr>
      </p:pic>
      <p:pic>
        <p:nvPicPr>
          <p:cNvPr id="5" name="Grafik 4">
            <a:extLst>
              <a:ext uri="{FF2B5EF4-FFF2-40B4-BE49-F238E27FC236}">
                <a16:creationId xmlns:a16="http://schemas.microsoft.com/office/drawing/2014/main" id="{DD520639-7084-42A5-A335-D2B0F5E16573}"/>
              </a:ext>
            </a:extLst>
          </p:cNvPr>
          <p:cNvPicPr>
            <a:picLocks noChangeAspect="1"/>
          </p:cNvPicPr>
          <p:nvPr/>
        </p:nvPicPr>
        <p:blipFill>
          <a:blip r:embed="rId4"/>
          <a:stretch>
            <a:fillRect/>
          </a:stretch>
        </p:blipFill>
        <p:spPr>
          <a:xfrm>
            <a:off x="468313" y="5192878"/>
            <a:ext cx="7930929" cy="967553"/>
          </a:xfrm>
          <a:prstGeom prst="rect">
            <a:avLst/>
          </a:prstGeom>
        </p:spPr>
      </p:pic>
    </p:spTree>
    <p:extLst>
      <p:ext uri="{BB962C8B-B14F-4D97-AF65-F5344CB8AC3E}">
        <p14:creationId xmlns:p14="http://schemas.microsoft.com/office/powerpoint/2010/main" val="2672627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err="1"/>
              <a:t>ChessProg</a:t>
            </a:r>
            <a:r>
              <a:rPr lang="de-CH" dirty="0"/>
              <a:t>, </a:t>
            </a:r>
            <a:r>
              <a:rPr lang="de-CH" dirty="0" err="1"/>
              <a:t>logical</a:t>
            </a:r>
            <a:r>
              <a:rPr lang="de-CH" dirty="0"/>
              <a:t> View Level 1</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pic>
        <p:nvPicPr>
          <p:cNvPr id="7" name="Grafik 6">
            <a:extLst>
              <a:ext uri="{FF2B5EF4-FFF2-40B4-BE49-F238E27FC236}">
                <a16:creationId xmlns:a16="http://schemas.microsoft.com/office/drawing/2014/main" id="{66FC32CD-4E1A-4984-86FA-AB5AB4DE3DCD}"/>
              </a:ext>
            </a:extLst>
          </p:cNvPr>
          <p:cNvPicPr/>
          <p:nvPr/>
        </p:nvPicPr>
        <p:blipFill>
          <a:blip r:embed="rId2">
            <a:extLst>
              <a:ext uri="{28A0092B-C50C-407E-A947-70E740481C1C}">
                <a14:useLocalDpi xmlns:a14="http://schemas.microsoft.com/office/drawing/2010/main" val="0"/>
              </a:ext>
            </a:extLst>
          </a:blip>
          <a:stretch>
            <a:fillRect/>
          </a:stretch>
        </p:blipFill>
        <p:spPr>
          <a:xfrm>
            <a:off x="1623419" y="1462993"/>
            <a:ext cx="4752528" cy="2232248"/>
          </a:xfrm>
          <a:prstGeom prst="rect">
            <a:avLst/>
          </a:prstGeom>
        </p:spPr>
      </p:pic>
      <p:pic>
        <p:nvPicPr>
          <p:cNvPr id="5" name="Grafik 4">
            <a:extLst>
              <a:ext uri="{FF2B5EF4-FFF2-40B4-BE49-F238E27FC236}">
                <a16:creationId xmlns:a16="http://schemas.microsoft.com/office/drawing/2014/main" id="{4A1F9186-EF14-4A0A-9E86-848C328CA46C}"/>
              </a:ext>
            </a:extLst>
          </p:cNvPr>
          <p:cNvPicPr>
            <a:picLocks noChangeAspect="1"/>
          </p:cNvPicPr>
          <p:nvPr/>
        </p:nvPicPr>
        <p:blipFill>
          <a:blip r:embed="rId3"/>
          <a:stretch>
            <a:fillRect/>
          </a:stretch>
        </p:blipFill>
        <p:spPr>
          <a:xfrm>
            <a:off x="2123728" y="3796172"/>
            <a:ext cx="4752528" cy="2234721"/>
          </a:xfrm>
          <a:prstGeom prst="rect">
            <a:avLst/>
          </a:prstGeom>
        </p:spPr>
      </p:pic>
    </p:spTree>
    <p:extLst>
      <p:ext uri="{BB962C8B-B14F-4D97-AF65-F5344CB8AC3E}">
        <p14:creationId xmlns:p14="http://schemas.microsoft.com/office/powerpoint/2010/main" val="222266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err="1"/>
              <a:t>ChessProg</a:t>
            </a:r>
            <a:r>
              <a:rPr lang="de-CH" dirty="0"/>
              <a:t>, </a:t>
            </a:r>
            <a:r>
              <a:rPr lang="de-CH" dirty="0" err="1"/>
              <a:t>logical</a:t>
            </a:r>
            <a:r>
              <a:rPr lang="de-CH" dirty="0"/>
              <a:t> View Engine Level 2</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pic>
        <p:nvPicPr>
          <p:cNvPr id="5" name="Grafik 4">
            <a:extLst>
              <a:ext uri="{FF2B5EF4-FFF2-40B4-BE49-F238E27FC236}">
                <a16:creationId xmlns:a16="http://schemas.microsoft.com/office/drawing/2014/main" id="{FCA7089A-1532-4302-BB30-B3934FB29E55}"/>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403648" y="1844824"/>
            <a:ext cx="3849528" cy="2127359"/>
          </a:xfrm>
          <a:prstGeom prst="rect">
            <a:avLst/>
          </a:prstGeom>
        </p:spPr>
      </p:pic>
      <p:pic>
        <p:nvPicPr>
          <p:cNvPr id="7" name="Grafik 6">
            <a:extLst>
              <a:ext uri="{FF2B5EF4-FFF2-40B4-BE49-F238E27FC236}">
                <a16:creationId xmlns:a16="http://schemas.microsoft.com/office/drawing/2014/main" id="{F90CFC7B-2166-4C6B-96BC-5445E8092BC5}"/>
              </a:ext>
            </a:extLst>
          </p:cNvPr>
          <p:cNvPicPr>
            <a:picLocks noChangeAspect="1"/>
          </p:cNvPicPr>
          <p:nvPr/>
        </p:nvPicPr>
        <p:blipFill>
          <a:blip r:embed="rId3"/>
          <a:stretch>
            <a:fillRect/>
          </a:stretch>
        </p:blipFill>
        <p:spPr>
          <a:xfrm>
            <a:off x="1150022" y="4365104"/>
            <a:ext cx="6590330" cy="922300"/>
          </a:xfrm>
          <a:prstGeom prst="rect">
            <a:avLst/>
          </a:prstGeom>
        </p:spPr>
      </p:pic>
    </p:spTree>
    <p:extLst>
      <p:ext uri="{BB962C8B-B14F-4D97-AF65-F5344CB8AC3E}">
        <p14:creationId xmlns:p14="http://schemas.microsoft.com/office/powerpoint/2010/main" val="2915232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err="1"/>
              <a:t>ChessProg</a:t>
            </a:r>
            <a:r>
              <a:rPr lang="de-CH" dirty="0"/>
              <a:t>, </a:t>
            </a:r>
            <a:r>
              <a:rPr lang="de-CH" dirty="0" err="1"/>
              <a:t>Process</a:t>
            </a:r>
            <a:r>
              <a:rPr lang="de-CH" dirty="0"/>
              <a:t> View</a:t>
            </a:r>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pic>
        <p:nvPicPr>
          <p:cNvPr id="7" name="Grafik 6">
            <a:extLst>
              <a:ext uri="{FF2B5EF4-FFF2-40B4-BE49-F238E27FC236}">
                <a16:creationId xmlns:a16="http://schemas.microsoft.com/office/drawing/2014/main" id="{FDE90DF8-81F2-48C8-AE71-C7CF6EEEB206}"/>
              </a:ext>
            </a:extLst>
          </p:cNvPr>
          <p:cNvPicPr/>
          <p:nvPr/>
        </p:nvPicPr>
        <p:blipFill>
          <a:blip r:embed="rId2">
            <a:extLst>
              <a:ext uri="{28A0092B-C50C-407E-A947-70E740481C1C}">
                <a14:useLocalDpi xmlns:a14="http://schemas.microsoft.com/office/drawing/2010/main" val="0"/>
              </a:ext>
            </a:extLst>
          </a:blip>
          <a:stretch>
            <a:fillRect/>
          </a:stretch>
        </p:blipFill>
        <p:spPr>
          <a:xfrm>
            <a:off x="2034081" y="1196752"/>
            <a:ext cx="4707890" cy="4904105"/>
          </a:xfrm>
          <a:prstGeom prst="rect">
            <a:avLst/>
          </a:prstGeom>
        </p:spPr>
      </p:pic>
    </p:spTree>
    <p:extLst>
      <p:ext uri="{BB962C8B-B14F-4D97-AF65-F5344CB8AC3E}">
        <p14:creationId xmlns:p14="http://schemas.microsoft.com/office/powerpoint/2010/main" val="1393889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CH" dirty="0" err="1"/>
              <a:t>ChessProg</a:t>
            </a:r>
            <a:r>
              <a:rPr lang="de-CH" dirty="0"/>
              <a:t>, </a:t>
            </a:r>
            <a:r>
              <a:rPr lang="de-CH" dirty="0" err="1"/>
              <a:t>development</a:t>
            </a:r>
            <a:r>
              <a:rPr lang="de-CH" dirty="0"/>
              <a:t> </a:t>
            </a:r>
            <a:r>
              <a:rPr lang="de-CH" dirty="0" err="1"/>
              <a:t>view</a:t>
            </a:r>
            <a:endParaRPr lang="de-CH" dirty="0"/>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pic>
        <p:nvPicPr>
          <p:cNvPr id="7" name="Grafik 6">
            <a:extLst>
              <a:ext uri="{FF2B5EF4-FFF2-40B4-BE49-F238E27FC236}">
                <a16:creationId xmlns:a16="http://schemas.microsoft.com/office/drawing/2014/main" id="{EB6BDE9F-94BF-4793-8F5A-D07CB97F84C4}"/>
              </a:ext>
            </a:extLst>
          </p:cNvPr>
          <p:cNvPicPr>
            <a:picLocks noChangeAspect="1"/>
          </p:cNvPicPr>
          <p:nvPr/>
        </p:nvPicPr>
        <p:blipFill>
          <a:blip r:embed="rId2"/>
          <a:stretch>
            <a:fillRect/>
          </a:stretch>
        </p:blipFill>
        <p:spPr>
          <a:xfrm>
            <a:off x="899592" y="1268760"/>
            <a:ext cx="2349234" cy="4801105"/>
          </a:xfrm>
          <a:prstGeom prst="rect">
            <a:avLst/>
          </a:prstGeom>
        </p:spPr>
      </p:pic>
      <p:sp>
        <p:nvSpPr>
          <p:cNvPr id="9" name="Textfeld 8">
            <a:extLst>
              <a:ext uri="{FF2B5EF4-FFF2-40B4-BE49-F238E27FC236}">
                <a16:creationId xmlns:a16="http://schemas.microsoft.com/office/drawing/2014/main" id="{D0048CD3-C2A3-4E52-9C80-6492AB5C7BE8}"/>
              </a:ext>
            </a:extLst>
          </p:cNvPr>
          <p:cNvSpPr txBox="1"/>
          <p:nvPr/>
        </p:nvSpPr>
        <p:spPr>
          <a:xfrm>
            <a:off x="3546475" y="2545377"/>
            <a:ext cx="4572000" cy="1477328"/>
          </a:xfrm>
          <a:prstGeom prst="rect">
            <a:avLst/>
          </a:prstGeom>
          <a:noFill/>
        </p:spPr>
        <p:txBody>
          <a:bodyPr wrap="square">
            <a:spAutoFit/>
          </a:bodyPr>
          <a:lstStyle/>
          <a:p>
            <a:r>
              <a:rPr lang="de-DE" dirty="0"/>
              <a:t>Diese Paketstruktur zeigt die modulare Implementierung der Schach-Engine-Komponenten, gruppiert nach Funktionalität (z. B. Bewertung, Suche, Regeln).</a:t>
            </a:r>
            <a:endParaRPr lang="de-CH" dirty="0"/>
          </a:p>
        </p:txBody>
      </p:sp>
    </p:spTree>
    <p:extLst>
      <p:ext uri="{BB962C8B-B14F-4D97-AF65-F5344CB8AC3E}">
        <p14:creationId xmlns:p14="http://schemas.microsoft.com/office/powerpoint/2010/main" val="914733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7824FA-842D-46A1-B1DE-82387D06C89D}"/>
              </a:ext>
            </a:extLst>
          </p:cNvPr>
          <p:cNvSpPr>
            <a:spLocks noGrp="1"/>
          </p:cNvSpPr>
          <p:nvPr>
            <p:ph type="title"/>
          </p:nvPr>
        </p:nvSpPr>
        <p:spPr/>
        <p:txBody>
          <a:bodyPr/>
          <a:lstStyle/>
          <a:p>
            <a:r>
              <a:rPr lang="de-CH" dirty="0" err="1"/>
              <a:t>ChessProg</a:t>
            </a:r>
            <a:r>
              <a:rPr lang="de-CH" dirty="0"/>
              <a:t>, </a:t>
            </a:r>
            <a:r>
              <a:rPr lang="de-CH" dirty="0" err="1"/>
              <a:t>Deployment</a:t>
            </a:r>
            <a:r>
              <a:rPr lang="de-CH" dirty="0"/>
              <a:t> View</a:t>
            </a:r>
          </a:p>
        </p:txBody>
      </p:sp>
      <p:sp>
        <p:nvSpPr>
          <p:cNvPr id="4" name="Fußzeilenplatzhalter 3">
            <a:extLst>
              <a:ext uri="{FF2B5EF4-FFF2-40B4-BE49-F238E27FC236}">
                <a16:creationId xmlns:a16="http://schemas.microsoft.com/office/drawing/2014/main" id="{42199080-5CBD-4D14-BAF9-EBC4C9CAC61C}"/>
              </a:ext>
            </a:extLst>
          </p:cNvPr>
          <p:cNvSpPr>
            <a:spLocks noGrp="1"/>
          </p:cNvSpPr>
          <p:nvPr>
            <p:ph type="ftr" sz="quarter" idx="10"/>
          </p:nvPr>
        </p:nvSpPr>
        <p:spPr/>
        <p:txBody>
          <a:bodyPr/>
          <a:lstStyle/>
          <a:p>
            <a:pPr>
              <a:defRPr/>
            </a:pPr>
            <a:r>
              <a:rPr lang="de-DE"/>
              <a:t>Ahmet Inci</a:t>
            </a:r>
            <a:endParaRPr lang="de-DE" dirty="0"/>
          </a:p>
        </p:txBody>
      </p:sp>
      <p:pic>
        <p:nvPicPr>
          <p:cNvPr id="5" name="Grafik 4">
            <a:extLst>
              <a:ext uri="{FF2B5EF4-FFF2-40B4-BE49-F238E27FC236}">
                <a16:creationId xmlns:a16="http://schemas.microsoft.com/office/drawing/2014/main" id="{CE4513EE-1807-4C13-8210-005642A39F2E}"/>
              </a:ext>
            </a:extLst>
          </p:cNvPr>
          <p:cNvPicPr/>
          <p:nvPr/>
        </p:nvPicPr>
        <p:blipFill>
          <a:blip r:embed="rId2">
            <a:extLst>
              <a:ext uri="{28A0092B-C50C-407E-A947-70E740481C1C}">
                <a14:useLocalDpi xmlns:a14="http://schemas.microsoft.com/office/drawing/2010/main" val="0"/>
              </a:ext>
            </a:extLst>
          </a:blip>
          <a:stretch>
            <a:fillRect/>
          </a:stretch>
        </p:blipFill>
        <p:spPr>
          <a:xfrm>
            <a:off x="1831657" y="1378267"/>
            <a:ext cx="5480685" cy="4101465"/>
          </a:xfrm>
          <a:prstGeom prst="rect">
            <a:avLst/>
          </a:prstGeom>
        </p:spPr>
      </p:pic>
    </p:spTree>
    <p:extLst>
      <p:ext uri="{BB962C8B-B14F-4D97-AF65-F5344CB8AC3E}">
        <p14:creationId xmlns:p14="http://schemas.microsoft.com/office/powerpoint/2010/main" val="3494455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DE" dirty="0"/>
              <a:t>Entwerfen Sie eine </a:t>
            </a:r>
            <a:r>
              <a:rPr lang="de-DE" b="1" dirty="0"/>
              <a:t>Online-Buchhandlung</a:t>
            </a:r>
            <a:r>
              <a:rPr lang="de-DE" dirty="0"/>
              <a:t> unter Verwendung des </a:t>
            </a:r>
            <a:r>
              <a:rPr lang="de-DE" b="1" dirty="0"/>
              <a:t>4+1-Architekturmodells</a:t>
            </a:r>
            <a:r>
              <a:rPr lang="de-DE" dirty="0"/>
              <a:t>.</a:t>
            </a:r>
            <a:endParaRPr lang="de-CH" dirty="0"/>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sp>
        <p:nvSpPr>
          <p:cNvPr id="3" name="Inhaltsplatzhalter 2">
            <a:extLst>
              <a:ext uri="{FF2B5EF4-FFF2-40B4-BE49-F238E27FC236}">
                <a16:creationId xmlns:a16="http://schemas.microsoft.com/office/drawing/2014/main" id="{B9837B08-0625-E2D3-C407-20A9948A9A20}"/>
              </a:ext>
            </a:extLst>
          </p:cNvPr>
          <p:cNvSpPr>
            <a:spLocks noGrp="1"/>
          </p:cNvSpPr>
          <p:nvPr>
            <p:ph idx="1"/>
          </p:nvPr>
        </p:nvSpPr>
        <p:spPr>
          <a:xfrm>
            <a:off x="457200" y="1125538"/>
            <a:ext cx="8229600" cy="1439366"/>
          </a:xfrm>
        </p:spPr>
        <p:txBody>
          <a:bodyPr/>
          <a:lstStyle/>
          <a:p>
            <a:r>
              <a:rPr lang="de-CH" sz="1400" dirty="0"/>
              <a:t>Scenario:</a:t>
            </a:r>
            <a:br>
              <a:rPr lang="de-CH" sz="1400" dirty="0"/>
            </a:br>
            <a:r>
              <a:rPr lang="de-DE" sz="1400" dirty="0"/>
              <a:t>Sie wurden beauftragt, eine Online-Buchhandlung zu entwerfen, die es Benutzern ermöglicht, Bücher zu durchsuchen, zu suchen und zu kaufen sowie ihre Bestellhistorie </a:t>
            </a:r>
            <a:r>
              <a:rPr lang="de-DE" sz="1400" dirty="0" err="1"/>
              <a:t>einzusehen.Das</a:t>
            </a:r>
            <a:r>
              <a:rPr lang="de-DE" sz="1400" dirty="0"/>
              <a:t> System soll Benutzerrollen wie Kunde und Administrator unterstützen, wobei jede Rolle unterschiedliche Zugriffsrechte und Funktionen hat.</a:t>
            </a:r>
            <a:endParaRPr lang="de-CH" sz="1400" dirty="0"/>
          </a:p>
        </p:txBody>
      </p:sp>
      <p:pic>
        <p:nvPicPr>
          <p:cNvPr id="6" name="Grafik 5">
            <a:extLst>
              <a:ext uri="{FF2B5EF4-FFF2-40B4-BE49-F238E27FC236}">
                <a16:creationId xmlns:a16="http://schemas.microsoft.com/office/drawing/2014/main" id="{60FE635D-933F-4575-B461-CC46B3FD83B9}"/>
              </a:ext>
            </a:extLst>
          </p:cNvPr>
          <p:cNvPicPr>
            <a:picLocks noChangeAspect="1"/>
          </p:cNvPicPr>
          <p:nvPr/>
        </p:nvPicPr>
        <p:blipFill>
          <a:blip r:embed="rId2"/>
          <a:stretch>
            <a:fillRect/>
          </a:stretch>
        </p:blipFill>
        <p:spPr>
          <a:xfrm>
            <a:off x="971599" y="2420888"/>
            <a:ext cx="5779109" cy="1698029"/>
          </a:xfrm>
          <a:prstGeom prst="rect">
            <a:avLst/>
          </a:prstGeom>
        </p:spPr>
      </p:pic>
      <p:pic>
        <p:nvPicPr>
          <p:cNvPr id="8" name="Grafik 7">
            <a:extLst>
              <a:ext uri="{FF2B5EF4-FFF2-40B4-BE49-F238E27FC236}">
                <a16:creationId xmlns:a16="http://schemas.microsoft.com/office/drawing/2014/main" id="{5EE2E1A6-AA17-4AA9-B26C-BA90BF2E2F22}"/>
              </a:ext>
            </a:extLst>
          </p:cNvPr>
          <p:cNvPicPr>
            <a:picLocks noChangeAspect="1"/>
          </p:cNvPicPr>
          <p:nvPr/>
        </p:nvPicPr>
        <p:blipFill>
          <a:blip r:embed="rId3"/>
          <a:stretch>
            <a:fillRect/>
          </a:stretch>
        </p:blipFill>
        <p:spPr>
          <a:xfrm>
            <a:off x="1155197" y="3860254"/>
            <a:ext cx="5411911" cy="2375070"/>
          </a:xfrm>
          <a:prstGeom prst="rect">
            <a:avLst/>
          </a:prstGeom>
        </p:spPr>
      </p:pic>
    </p:spTree>
    <p:extLst>
      <p:ext uri="{BB962C8B-B14F-4D97-AF65-F5344CB8AC3E}">
        <p14:creationId xmlns:p14="http://schemas.microsoft.com/office/powerpoint/2010/main" val="1028887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006547-C76D-8426-7F5E-A45ADD6482C1}"/>
              </a:ext>
            </a:extLst>
          </p:cNvPr>
          <p:cNvSpPr>
            <a:spLocks noGrp="1"/>
          </p:cNvSpPr>
          <p:nvPr>
            <p:ph type="title"/>
          </p:nvPr>
        </p:nvSpPr>
        <p:spPr/>
        <p:txBody>
          <a:bodyPr/>
          <a:lstStyle/>
          <a:p>
            <a:r>
              <a:rPr lang="de-DE" dirty="0"/>
              <a:t>Entwerfen Sie eine </a:t>
            </a:r>
            <a:r>
              <a:rPr lang="de-DE" b="1" dirty="0"/>
              <a:t>Online-Buchhandlung</a:t>
            </a:r>
            <a:r>
              <a:rPr lang="de-DE" dirty="0"/>
              <a:t> unter Verwendung des </a:t>
            </a:r>
            <a:r>
              <a:rPr lang="de-DE" b="1" dirty="0"/>
              <a:t>4+1-Architekturmodells</a:t>
            </a:r>
            <a:r>
              <a:rPr lang="de-DE" dirty="0"/>
              <a:t>.</a:t>
            </a:r>
            <a:endParaRPr lang="de-CH" dirty="0"/>
          </a:p>
        </p:txBody>
      </p:sp>
      <p:sp>
        <p:nvSpPr>
          <p:cNvPr id="4" name="Fußzeilenplatzhalter 3">
            <a:extLst>
              <a:ext uri="{FF2B5EF4-FFF2-40B4-BE49-F238E27FC236}">
                <a16:creationId xmlns:a16="http://schemas.microsoft.com/office/drawing/2014/main" id="{7BCB348F-0928-F43B-0737-600B1FE86526}"/>
              </a:ext>
            </a:extLst>
          </p:cNvPr>
          <p:cNvSpPr>
            <a:spLocks noGrp="1"/>
          </p:cNvSpPr>
          <p:nvPr>
            <p:ph type="ftr" sz="quarter" idx="10"/>
          </p:nvPr>
        </p:nvSpPr>
        <p:spPr/>
        <p:txBody>
          <a:bodyPr/>
          <a:lstStyle/>
          <a:p>
            <a:pPr>
              <a:defRPr/>
            </a:pPr>
            <a:r>
              <a:rPr lang="de-DE"/>
              <a:t>Ahmet Inci</a:t>
            </a:r>
            <a:endParaRPr lang="de-DE" dirty="0"/>
          </a:p>
        </p:txBody>
      </p:sp>
      <p:sp>
        <p:nvSpPr>
          <p:cNvPr id="3" name="Inhaltsplatzhalter 2">
            <a:extLst>
              <a:ext uri="{FF2B5EF4-FFF2-40B4-BE49-F238E27FC236}">
                <a16:creationId xmlns:a16="http://schemas.microsoft.com/office/drawing/2014/main" id="{B9837B08-0625-E2D3-C407-20A9948A9A20}"/>
              </a:ext>
            </a:extLst>
          </p:cNvPr>
          <p:cNvSpPr>
            <a:spLocks noGrp="1"/>
          </p:cNvSpPr>
          <p:nvPr>
            <p:ph idx="1"/>
          </p:nvPr>
        </p:nvSpPr>
        <p:spPr/>
        <p:txBody>
          <a:bodyPr/>
          <a:lstStyle/>
          <a:p>
            <a:r>
              <a:rPr lang="de-CH" sz="1400" dirty="0"/>
              <a:t>Task:</a:t>
            </a:r>
            <a:br>
              <a:rPr lang="de-CH" sz="1400" dirty="0"/>
            </a:br>
            <a:r>
              <a:rPr lang="de-DE" sz="1400" dirty="0"/>
              <a:t>Verwenden Sie das 4+1-Architekturmodell, um ein umfassendes Design für die Online-Buchhandlung zu erstellen. Geben Sie für jede der fünf Sichten (Logische Sicht, Entwicklungssicht, Prozesssicht, Physische/Bereitstellungssicht und Anwendungsfälle) eine detaillierte Beschreibung und – falls zutreffend – ein Diagramm an.</a:t>
            </a:r>
            <a:endParaRPr lang="de-CH" sz="1400" dirty="0"/>
          </a:p>
        </p:txBody>
      </p:sp>
    </p:spTree>
    <p:extLst>
      <p:ext uri="{BB962C8B-B14F-4D97-AF65-F5344CB8AC3E}">
        <p14:creationId xmlns:p14="http://schemas.microsoft.com/office/powerpoint/2010/main" val="2669957426"/>
      </p:ext>
    </p:extLst>
  </p:cSld>
  <p:clrMapOvr>
    <a:masterClrMapping/>
  </p:clrMapOvr>
</p:sld>
</file>

<file path=ppt/theme/theme1.xml><?xml version="1.0" encoding="utf-8"?>
<a:theme xmlns:a="http://schemas.openxmlformats.org/drawingml/2006/main" name="Standarddesign">
  <a:themeElements>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429</Words>
  <Application>Microsoft Office PowerPoint</Application>
  <PresentationFormat>Bildschirmpräsentation (4:3)</PresentationFormat>
  <Paragraphs>57</Paragraphs>
  <Slides>18</Slides>
  <Notes>0</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18</vt:i4>
      </vt:variant>
    </vt:vector>
  </HeadingPairs>
  <TitlesOfParts>
    <vt:vector size="20" baseType="lpstr">
      <vt:lpstr>Arial</vt:lpstr>
      <vt:lpstr>Standarddesign</vt:lpstr>
      <vt:lpstr>System</vt:lpstr>
      <vt:lpstr>Software-Entwicklungslebenszyklus </vt:lpstr>
      <vt:lpstr>Einführung in das 4+1-Architekturmodell</vt:lpstr>
      <vt:lpstr>Logische Sicht</vt:lpstr>
      <vt:lpstr>Entwicklungssicht</vt:lpstr>
      <vt:lpstr>Prozess Sicht</vt:lpstr>
      <vt:lpstr>Verteilungssicht </vt:lpstr>
      <vt:lpstr>Use case Sicht</vt:lpstr>
      <vt:lpstr>ChessProg</vt:lpstr>
      <vt:lpstr>ChessProg, Use Case View</vt:lpstr>
      <vt:lpstr>ChessProg, Use Case View</vt:lpstr>
      <vt:lpstr>ChessProg, logical View Level 1</vt:lpstr>
      <vt:lpstr>ChessProg, logical View Engine Level 2</vt:lpstr>
      <vt:lpstr>ChessProg, Process View</vt:lpstr>
      <vt:lpstr>ChessProg, development view</vt:lpstr>
      <vt:lpstr>ChessProg, Deployment View</vt:lpstr>
      <vt:lpstr>Entwerfen Sie eine Online-Buchhandlung unter Verwendung des 4+1-Architekturmodells.</vt:lpstr>
      <vt:lpstr>Entwerfen Sie eine Online-Buchhandlung unter Verwendung des 4+1-Architekturmodells.</vt:lpstr>
    </vt:vector>
  </TitlesOfParts>
  <Company>Hochschule Osnabrück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Prof. Dr. Stephan Kleuker</dc:creator>
  <cp:lastModifiedBy>Ahmet Inci</cp:lastModifiedBy>
  <cp:revision>785</cp:revision>
  <dcterms:created xsi:type="dcterms:W3CDTF">2002-10-02T13:01:35Z</dcterms:created>
  <dcterms:modified xsi:type="dcterms:W3CDTF">2025-10-19T18:07:54Z</dcterms:modified>
</cp:coreProperties>
</file>